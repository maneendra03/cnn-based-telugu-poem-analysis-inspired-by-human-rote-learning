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399" r:id="rId4"/>
    <p:sldId id="451" r:id="rId5"/>
    <p:sldId id="450" r:id="rId6"/>
    <p:sldId id="449" r:id="rId7"/>
    <p:sldId id="452" r:id="rId8"/>
    <p:sldId id="440" r:id="rId9"/>
    <p:sldId id="433" r:id="rId10"/>
    <p:sldId id="453" r:id="rId11"/>
    <p:sldId id="455" r:id="rId12"/>
    <p:sldId id="434" r:id="rId13"/>
    <p:sldId id="454" r:id="rId14"/>
    <p:sldId id="383" r:id="rId15"/>
    <p:sldId id="437"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141B93A-8806-4CBE-ABCE-9ED2AD762B2B}">
          <p14:sldIdLst>
            <p14:sldId id="256"/>
            <p14:sldId id="257"/>
            <p14:sldId id="399"/>
            <p14:sldId id="451"/>
            <p14:sldId id="450"/>
            <p14:sldId id="449"/>
            <p14:sldId id="452"/>
            <p14:sldId id="440"/>
            <p14:sldId id="433"/>
            <p14:sldId id="453"/>
            <p14:sldId id="455"/>
            <p14:sldId id="434"/>
            <p14:sldId id="454"/>
            <p14:sldId id="383"/>
            <p14:sldId id="43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85" autoAdjust="0"/>
    <p:restoredTop sz="94641"/>
  </p:normalViewPr>
  <p:slideViewPr>
    <p:cSldViewPr>
      <p:cViewPr varScale="1">
        <p:scale>
          <a:sx n="146" d="100"/>
          <a:sy n="146" d="100"/>
        </p:scale>
        <p:origin x="1624" y="2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PlaceHolder 1"/>
          <p:cNvSpPr>
            <a:spLocks noGrp="1"/>
          </p:cNvSpPr>
          <p:nvPr>
            <p:ph type="body"/>
          </p:nvPr>
        </p:nvSpPr>
        <p:spPr>
          <a:xfrm>
            <a:off x="756000" y="5078520"/>
            <a:ext cx="6047640" cy="4811040"/>
          </a:xfrm>
          <a:prstGeom prst="rect">
            <a:avLst/>
          </a:prstGeom>
        </p:spPr>
        <p:txBody>
          <a:bodyPr wrap="none" lIns="0" tIns="0" rIns="0" bIns="0"/>
          <a:lstStyle/>
          <a:p>
            <a:r>
              <a:rPr lang="en-IN"/>
              <a:t>Click to edit the notes format</a:t>
            </a:r>
            <a:endParaRPr/>
          </a:p>
        </p:txBody>
      </p:sp>
      <p:sp>
        <p:nvSpPr>
          <p:cNvPr id="35" name="PlaceHolder 2"/>
          <p:cNvSpPr>
            <a:spLocks noGrp="1"/>
          </p:cNvSpPr>
          <p:nvPr>
            <p:ph type="hdr"/>
          </p:nvPr>
        </p:nvSpPr>
        <p:spPr>
          <a:xfrm>
            <a:off x="0" y="0"/>
            <a:ext cx="3280320" cy="534240"/>
          </a:xfrm>
          <a:prstGeom prst="rect">
            <a:avLst/>
          </a:prstGeom>
        </p:spPr>
        <p:txBody>
          <a:bodyPr wrap="none" lIns="0" tIns="0" rIns="0" bIns="0"/>
          <a:lstStyle/>
          <a:p>
            <a:r>
              <a:rPr lang="en-IN"/>
              <a:t>&lt;header&gt;</a:t>
            </a:r>
            <a:endParaRPr/>
          </a:p>
        </p:txBody>
      </p:sp>
      <p:sp>
        <p:nvSpPr>
          <p:cNvPr id="36" name="PlaceHolder 3"/>
          <p:cNvSpPr>
            <a:spLocks noGrp="1"/>
          </p:cNvSpPr>
          <p:nvPr>
            <p:ph type="dt"/>
          </p:nvPr>
        </p:nvSpPr>
        <p:spPr>
          <a:xfrm>
            <a:off x="4279320" y="0"/>
            <a:ext cx="3280320" cy="534240"/>
          </a:xfrm>
          <a:prstGeom prst="rect">
            <a:avLst/>
          </a:prstGeom>
        </p:spPr>
        <p:txBody>
          <a:bodyPr wrap="none" lIns="0" tIns="0" rIns="0" bIns="0"/>
          <a:lstStyle/>
          <a:p>
            <a:pPr algn="r"/>
            <a:r>
              <a:rPr lang="en-IN"/>
              <a:t>&lt;date/time&gt;</a:t>
            </a:r>
            <a:endParaRPr/>
          </a:p>
        </p:txBody>
      </p:sp>
      <p:sp>
        <p:nvSpPr>
          <p:cNvPr id="37" name="PlaceHolder 4"/>
          <p:cNvSpPr>
            <a:spLocks noGrp="1"/>
          </p:cNvSpPr>
          <p:nvPr>
            <p:ph type="ftr"/>
          </p:nvPr>
        </p:nvSpPr>
        <p:spPr>
          <a:xfrm>
            <a:off x="0" y="10157400"/>
            <a:ext cx="3280320" cy="534240"/>
          </a:xfrm>
          <a:prstGeom prst="rect">
            <a:avLst/>
          </a:prstGeom>
        </p:spPr>
        <p:txBody>
          <a:bodyPr wrap="none" lIns="0" tIns="0" rIns="0" bIns="0" anchor="b"/>
          <a:lstStyle/>
          <a:p>
            <a:r>
              <a:rPr lang="en-IN"/>
              <a:t>&lt;footer&gt;</a:t>
            </a:r>
            <a:endParaRPr/>
          </a:p>
        </p:txBody>
      </p:sp>
      <p:sp>
        <p:nvSpPr>
          <p:cNvPr id="38" name="PlaceHolder 5"/>
          <p:cNvSpPr>
            <a:spLocks noGrp="1"/>
          </p:cNvSpPr>
          <p:nvPr>
            <p:ph type="sldNum"/>
          </p:nvPr>
        </p:nvSpPr>
        <p:spPr>
          <a:xfrm>
            <a:off x="4279320" y="10157400"/>
            <a:ext cx="3280320" cy="534240"/>
          </a:xfrm>
          <a:prstGeom prst="rect">
            <a:avLst/>
          </a:prstGeom>
        </p:spPr>
        <p:txBody>
          <a:bodyPr wrap="none" lIns="0" tIns="0" rIns="0" bIns="0" anchor="b"/>
          <a:lstStyle/>
          <a:p>
            <a:pPr algn="r"/>
            <a:fld id="{51811100-C181-4161-81E1-C1B1D191B141}" type="slidenum">
              <a:rPr lang="en-IN"/>
              <a:pPr algn="r"/>
              <a:t>‹#›</a:t>
            </a:fld>
            <a:endParaRPr/>
          </a:p>
        </p:txBody>
      </p:sp>
    </p:spTree>
    <p:extLst>
      <p:ext uri="{BB962C8B-B14F-4D97-AF65-F5344CB8AC3E}">
        <p14:creationId xmlns:p14="http://schemas.microsoft.com/office/powerpoint/2010/main" val="1362827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49" name="CustomShape 2"/>
          <p:cNvSpPr/>
          <p:nvPr/>
        </p:nvSpPr>
        <p:spPr>
          <a:xfrm>
            <a:off x="0" y="0"/>
            <a:ext cx="11796480" cy="11796480"/>
          </a:xfrm>
          <a:prstGeom prst="rect">
            <a:avLst/>
          </a:prstGeom>
        </p:spPr>
        <p:txBody>
          <a:bodyPr lIns="90000" tIns="45000" rIns="90000" bIns="45000"/>
          <a:lstStyle/>
          <a:p>
            <a:pPr>
              <a:lnSpc>
                <a:spcPct val="100000"/>
              </a:lnSpc>
            </a:pPr>
            <a:fld id="{11216171-A131-4111-8101-11D1D10191D1}" type="slidenum">
              <a:rPr lang="en-IN">
                <a:solidFill>
                  <a:srgbClr val="000000"/>
                </a:solidFill>
                <a:latin typeface="+mn-lt"/>
                <a:ea typeface="+mn-ea"/>
              </a:rPr>
              <a:pPr>
                <a:lnSpc>
                  <a:spcPct val="100000"/>
                </a:lnSpc>
              </a:pPr>
              <a:t>2</a:t>
            </a:fld>
            <a:endParaRPr/>
          </a:p>
        </p:txBody>
      </p:sp>
    </p:spTree>
    <p:extLst>
      <p:ext uri="{BB962C8B-B14F-4D97-AF65-F5344CB8AC3E}">
        <p14:creationId xmlns:p14="http://schemas.microsoft.com/office/powerpoint/2010/main" val="3791823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3</a:t>
            </a:fld>
            <a:endParaRPr/>
          </a:p>
        </p:txBody>
      </p:sp>
    </p:spTree>
    <p:extLst>
      <p:ext uri="{BB962C8B-B14F-4D97-AF65-F5344CB8AC3E}">
        <p14:creationId xmlns:p14="http://schemas.microsoft.com/office/powerpoint/2010/main" val="1959862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C342F-CA0D-4CC4-1649-1CA9522780F5}"/>
            </a:ext>
          </a:extLst>
        </p:cNvPr>
        <p:cNvGrpSpPr/>
        <p:nvPr/>
      </p:nvGrpSpPr>
      <p:grpSpPr>
        <a:xfrm>
          <a:off x="0" y="0"/>
          <a:ext cx="0" cy="0"/>
          <a:chOff x="0" y="0"/>
          <a:chExt cx="0" cy="0"/>
        </a:xfrm>
      </p:grpSpPr>
      <p:sp>
        <p:nvSpPr>
          <p:cNvPr id="170" name="PlaceHolder 1">
            <a:extLst>
              <a:ext uri="{FF2B5EF4-FFF2-40B4-BE49-F238E27FC236}">
                <a16:creationId xmlns:a16="http://schemas.microsoft.com/office/drawing/2014/main" id="{5FEB3EE9-4A7E-A61A-D4C8-06932852893A}"/>
              </a:ext>
            </a:extLst>
          </p:cNvPr>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a:extLst>
              <a:ext uri="{FF2B5EF4-FFF2-40B4-BE49-F238E27FC236}">
                <a16:creationId xmlns:a16="http://schemas.microsoft.com/office/drawing/2014/main" id="{A51B4047-1D88-57B1-4D2B-9011EC4EC406}"/>
              </a:ext>
            </a:extLst>
          </p:cNvPr>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4</a:t>
            </a:fld>
            <a:endParaRPr/>
          </a:p>
        </p:txBody>
      </p:sp>
    </p:spTree>
    <p:extLst>
      <p:ext uri="{BB962C8B-B14F-4D97-AF65-F5344CB8AC3E}">
        <p14:creationId xmlns:p14="http://schemas.microsoft.com/office/powerpoint/2010/main" val="1714570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CF219-2BEE-0BFA-EE93-45E3B5A9C0DF}"/>
            </a:ext>
          </a:extLst>
        </p:cNvPr>
        <p:cNvGrpSpPr/>
        <p:nvPr/>
      </p:nvGrpSpPr>
      <p:grpSpPr>
        <a:xfrm>
          <a:off x="0" y="0"/>
          <a:ext cx="0" cy="0"/>
          <a:chOff x="0" y="0"/>
          <a:chExt cx="0" cy="0"/>
        </a:xfrm>
      </p:grpSpPr>
      <p:sp>
        <p:nvSpPr>
          <p:cNvPr id="170" name="PlaceHolder 1">
            <a:extLst>
              <a:ext uri="{FF2B5EF4-FFF2-40B4-BE49-F238E27FC236}">
                <a16:creationId xmlns:a16="http://schemas.microsoft.com/office/drawing/2014/main" id="{16471740-1A02-A21E-902D-88531AF9886C}"/>
              </a:ext>
            </a:extLst>
          </p:cNvPr>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a:extLst>
              <a:ext uri="{FF2B5EF4-FFF2-40B4-BE49-F238E27FC236}">
                <a16:creationId xmlns:a16="http://schemas.microsoft.com/office/drawing/2014/main" id="{BA443AF0-B3D3-0CE5-FF88-2CB6EADF2392}"/>
              </a:ext>
            </a:extLst>
          </p:cNvPr>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5</a:t>
            </a:fld>
            <a:endParaRPr/>
          </a:p>
        </p:txBody>
      </p:sp>
    </p:spTree>
    <p:extLst>
      <p:ext uri="{BB962C8B-B14F-4D97-AF65-F5344CB8AC3E}">
        <p14:creationId xmlns:p14="http://schemas.microsoft.com/office/powerpoint/2010/main" val="2096256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A8460-8DB1-8023-3E6F-0373CC438BA7}"/>
            </a:ext>
          </a:extLst>
        </p:cNvPr>
        <p:cNvGrpSpPr/>
        <p:nvPr/>
      </p:nvGrpSpPr>
      <p:grpSpPr>
        <a:xfrm>
          <a:off x="0" y="0"/>
          <a:ext cx="0" cy="0"/>
          <a:chOff x="0" y="0"/>
          <a:chExt cx="0" cy="0"/>
        </a:xfrm>
      </p:grpSpPr>
      <p:sp>
        <p:nvSpPr>
          <p:cNvPr id="170" name="PlaceHolder 1">
            <a:extLst>
              <a:ext uri="{FF2B5EF4-FFF2-40B4-BE49-F238E27FC236}">
                <a16:creationId xmlns:a16="http://schemas.microsoft.com/office/drawing/2014/main" id="{C831ECB7-8561-AD36-04C3-EEEC7889AB62}"/>
              </a:ext>
            </a:extLst>
          </p:cNvPr>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a:extLst>
              <a:ext uri="{FF2B5EF4-FFF2-40B4-BE49-F238E27FC236}">
                <a16:creationId xmlns:a16="http://schemas.microsoft.com/office/drawing/2014/main" id="{E11B0076-047B-5188-0366-272E7648BEB2}"/>
              </a:ext>
            </a:extLst>
          </p:cNvPr>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6</a:t>
            </a:fld>
            <a:endParaRPr/>
          </a:p>
        </p:txBody>
      </p:sp>
    </p:spTree>
    <p:extLst>
      <p:ext uri="{BB962C8B-B14F-4D97-AF65-F5344CB8AC3E}">
        <p14:creationId xmlns:p14="http://schemas.microsoft.com/office/powerpoint/2010/main" val="1268642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B0774-9736-D552-F0BA-D0F73A247083}"/>
            </a:ext>
          </a:extLst>
        </p:cNvPr>
        <p:cNvGrpSpPr/>
        <p:nvPr/>
      </p:nvGrpSpPr>
      <p:grpSpPr>
        <a:xfrm>
          <a:off x="0" y="0"/>
          <a:ext cx="0" cy="0"/>
          <a:chOff x="0" y="0"/>
          <a:chExt cx="0" cy="0"/>
        </a:xfrm>
      </p:grpSpPr>
      <p:sp>
        <p:nvSpPr>
          <p:cNvPr id="170" name="PlaceHolder 1">
            <a:extLst>
              <a:ext uri="{FF2B5EF4-FFF2-40B4-BE49-F238E27FC236}">
                <a16:creationId xmlns:a16="http://schemas.microsoft.com/office/drawing/2014/main" id="{D31E8F35-8BD8-50B4-1A5C-8E32EEEB36BE}"/>
              </a:ext>
            </a:extLst>
          </p:cNvPr>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a:extLst>
              <a:ext uri="{FF2B5EF4-FFF2-40B4-BE49-F238E27FC236}">
                <a16:creationId xmlns:a16="http://schemas.microsoft.com/office/drawing/2014/main" id="{143D5ACD-826A-73DD-6DE8-327C7016BC45}"/>
              </a:ext>
            </a:extLst>
          </p:cNvPr>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7</a:t>
            </a:fld>
            <a:endParaRPr/>
          </a:p>
        </p:txBody>
      </p:sp>
    </p:spTree>
    <p:extLst>
      <p:ext uri="{BB962C8B-B14F-4D97-AF65-F5344CB8AC3E}">
        <p14:creationId xmlns:p14="http://schemas.microsoft.com/office/powerpoint/2010/main" val="1182119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9</a:t>
            </a:fld>
            <a:endParaRPr/>
          </a:p>
        </p:txBody>
      </p:sp>
    </p:spTree>
    <p:extLst>
      <p:ext uri="{BB962C8B-B14F-4D97-AF65-F5344CB8AC3E}">
        <p14:creationId xmlns:p14="http://schemas.microsoft.com/office/powerpoint/2010/main" val="13149625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8DC8F-38FF-B0E7-E252-C98E5268E03E}"/>
            </a:ext>
          </a:extLst>
        </p:cNvPr>
        <p:cNvGrpSpPr/>
        <p:nvPr/>
      </p:nvGrpSpPr>
      <p:grpSpPr>
        <a:xfrm>
          <a:off x="0" y="0"/>
          <a:ext cx="0" cy="0"/>
          <a:chOff x="0" y="0"/>
          <a:chExt cx="0" cy="0"/>
        </a:xfrm>
      </p:grpSpPr>
      <p:sp>
        <p:nvSpPr>
          <p:cNvPr id="170" name="PlaceHolder 1">
            <a:extLst>
              <a:ext uri="{FF2B5EF4-FFF2-40B4-BE49-F238E27FC236}">
                <a16:creationId xmlns:a16="http://schemas.microsoft.com/office/drawing/2014/main" id="{EACAC24A-EA4F-7129-FC68-AC386D1B6FF3}"/>
              </a:ext>
            </a:extLst>
          </p:cNvPr>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a:extLst>
              <a:ext uri="{FF2B5EF4-FFF2-40B4-BE49-F238E27FC236}">
                <a16:creationId xmlns:a16="http://schemas.microsoft.com/office/drawing/2014/main" id="{5011C818-4ED4-A93C-EA4D-ECB55580A602}"/>
              </a:ext>
            </a:extLst>
          </p:cNvPr>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10</a:t>
            </a:fld>
            <a:endParaRPr/>
          </a:p>
        </p:txBody>
      </p:sp>
    </p:spTree>
    <p:extLst>
      <p:ext uri="{BB962C8B-B14F-4D97-AF65-F5344CB8AC3E}">
        <p14:creationId xmlns:p14="http://schemas.microsoft.com/office/powerpoint/2010/main" val="6128574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dirty="0"/>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12</a:t>
            </a:fld>
            <a:endParaRPr/>
          </a:p>
        </p:txBody>
      </p:sp>
    </p:spTree>
    <p:extLst>
      <p:ext uri="{BB962C8B-B14F-4D97-AF65-F5344CB8AC3E}">
        <p14:creationId xmlns:p14="http://schemas.microsoft.com/office/powerpoint/2010/main" val="2731445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438BF-04AB-7E34-FEB6-8C4501826145}"/>
            </a:ext>
          </a:extLst>
        </p:cNvPr>
        <p:cNvGrpSpPr/>
        <p:nvPr/>
      </p:nvGrpSpPr>
      <p:grpSpPr>
        <a:xfrm>
          <a:off x="0" y="0"/>
          <a:ext cx="0" cy="0"/>
          <a:chOff x="0" y="0"/>
          <a:chExt cx="0" cy="0"/>
        </a:xfrm>
      </p:grpSpPr>
      <p:sp>
        <p:nvSpPr>
          <p:cNvPr id="170" name="PlaceHolder 1">
            <a:extLst>
              <a:ext uri="{FF2B5EF4-FFF2-40B4-BE49-F238E27FC236}">
                <a16:creationId xmlns:a16="http://schemas.microsoft.com/office/drawing/2014/main" id="{1D587B9C-2F9D-3B5D-3C4F-7EF818243F52}"/>
              </a:ext>
            </a:extLst>
          </p:cNvPr>
          <p:cNvSpPr>
            <a:spLocks noGrp="1"/>
          </p:cNvSpPr>
          <p:nvPr>
            <p:ph type="body"/>
          </p:nvPr>
        </p:nvSpPr>
        <p:spPr>
          <a:xfrm>
            <a:off x="0" y="0"/>
            <a:ext cx="11796480" cy="11796480"/>
          </a:xfrm>
          <a:prstGeom prst="rect">
            <a:avLst/>
          </a:prstGeom>
        </p:spPr>
        <p:txBody>
          <a:bodyPr lIns="90000" tIns="45000" rIns="90000" bIns="45000"/>
          <a:lstStyle/>
          <a:p>
            <a:endParaRPr dirty="0"/>
          </a:p>
        </p:txBody>
      </p:sp>
      <p:sp>
        <p:nvSpPr>
          <p:cNvPr id="171" name="CustomShape 2">
            <a:extLst>
              <a:ext uri="{FF2B5EF4-FFF2-40B4-BE49-F238E27FC236}">
                <a16:creationId xmlns:a16="http://schemas.microsoft.com/office/drawing/2014/main" id="{8437FDED-AA0D-A145-F00D-C98FFF2E5CA9}"/>
              </a:ext>
            </a:extLst>
          </p:cNvPr>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13</a:t>
            </a:fld>
            <a:endParaRPr/>
          </a:p>
        </p:txBody>
      </p:sp>
    </p:spTree>
    <p:extLst>
      <p:ext uri="{BB962C8B-B14F-4D97-AF65-F5344CB8AC3E}">
        <p14:creationId xmlns:p14="http://schemas.microsoft.com/office/powerpoint/2010/main" val="3952705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 name="PlaceHolder 2"/>
          <p:cNvSpPr>
            <a:spLocks noGrp="1"/>
          </p:cNvSpPr>
          <p:nvPr>
            <p:ph type="subTitle"/>
          </p:nvPr>
        </p:nvSpPr>
        <p:spPr>
          <a:xfrm>
            <a:off x="457200" y="1604520"/>
            <a:ext cx="8046360" cy="3977280"/>
          </a:xfrm>
          <a:prstGeom prst="rect">
            <a:avLst/>
          </a:prstGeom>
        </p:spPr>
        <p:txBody>
          <a:bodyPr wrap="none" lIns="0" tIns="0" rIns="0" bIns="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5" name="PlaceHolder 2"/>
          <p:cNvSpPr>
            <a:spLocks noGrp="1"/>
          </p:cNvSpPr>
          <p:nvPr>
            <p:ph type="body"/>
          </p:nvPr>
        </p:nvSpPr>
        <p:spPr>
          <a:xfrm>
            <a:off x="457200" y="1604520"/>
            <a:ext cx="8046360" cy="3976920"/>
          </a:xfrm>
          <a:prstGeom prst="rect">
            <a:avLst/>
          </a:prstGeom>
        </p:spPr>
        <p:txBody>
          <a:bodyPr wrap="none" lIns="0" tIns="0" rIns="0" bIns="0"/>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7"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8" name="PlaceHolder 3"/>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85800" y="2130480"/>
            <a:ext cx="7771680" cy="3450960"/>
          </a:xfrm>
          <a:prstGeom prst="rect">
            <a:avLst/>
          </a:prstGeom>
        </p:spPr>
        <p:txBody>
          <a:bodyPr wrap="none" lIns="0" tIns="0" rIns="0" bIns="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13" name="PlaceHolder 3"/>
          <p:cNvSpPr>
            <a:spLocks noGrp="1"/>
          </p:cNvSpPr>
          <p:nvPr>
            <p:ph type="body"/>
          </p:nvPr>
        </p:nvSpPr>
        <p:spPr>
          <a:xfrm>
            <a:off x="457200" y="3681360"/>
            <a:ext cx="3926160" cy="1896480"/>
          </a:xfrm>
          <a:prstGeom prst="rect">
            <a:avLst/>
          </a:prstGeom>
        </p:spPr>
        <p:txBody>
          <a:bodyPr wrap="none" lIns="0" tIns="0" rIns="0" bIns="0"/>
          <a:lstStyle/>
          <a:p>
            <a:endParaRPr/>
          </a:p>
        </p:txBody>
      </p:sp>
      <p:sp>
        <p:nvSpPr>
          <p:cNvPr id="14" name="PlaceHolder 4"/>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6"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17"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18"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0"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1"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2" name="PlaceHolder 4"/>
          <p:cNvSpPr>
            <a:spLocks noGrp="1"/>
          </p:cNvSpPr>
          <p:nvPr>
            <p:ph type="body"/>
          </p:nvPr>
        </p:nvSpPr>
        <p:spPr>
          <a:xfrm>
            <a:off x="457200" y="3681360"/>
            <a:ext cx="8045640" cy="1896480"/>
          </a:xfrm>
          <a:prstGeom prst="rect">
            <a:avLst/>
          </a:prstGeom>
        </p:spPr>
        <p:txBody>
          <a:bodyPr wrap="none" lIns="0" tIns="0" rIns="0" bIns="0"/>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4" name="PlaceHolder 2"/>
          <p:cNvSpPr>
            <a:spLocks noGrp="1"/>
          </p:cNvSpPr>
          <p:nvPr>
            <p:ph type="body"/>
          </p:nvPr>
        </p:nvSpPr>
        <p:spPr>
          <a:xfrm>
            <a:off x="457200" y="1604520"/>
            <a:ext cx="8046360" cy="1896480"/>
          </a:xfrm>
          <a:prstGeom prst="rect">
            <a:avLst/>
          </a:prstGeom>
        </p:spPr>
        <p:txBody>
          <a:bodyPr wrap="none" lIns="0" tIns="0" rIns="0" bIns="0"/>
          <a:lstStyle/>
          <a:p>
            <a:endParaRPr/>
          </a:p>
        </p:txBody>
      </p:sp>
      <p:sp>
        <p:nvSpPr>
          <p:cNvPr id="25" name="PlaceHolder 3"/>
          <p:cNvSpPr>
            <a:spLocks noGrp="1"/>
          </p:cNvSpPr>
          <p:nvPr>
            <p:ph type="body"/>
          </p:nvPr>
        </p:nvSpPr>
        <p:spPr>
          <a:xfrm>
            <a:off x="457200" y="3681360"/>
            <a:ext cx="8046360" cy="1896480"/>
          </a:xfrm>
          <a:prstGeom prst="rect">
            <a:avLst/>
          </a:prstGeom>
        </p:spPr>
        <p:txBody>
          <a:bodyPr wrap="none" lIns="0" tIns="0" rIns="0" bIns="0"/>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7"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8"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9"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
        <p:nvSpPr>
          <p:cNvPr id="30" name="PlaceHolder 5"/>
          <p:cNvSpPr>
            <a:spLocks noGrp="1"/>
          </p:cNvSpPr>
          <p:nvPr>
            <p:ph type="body"/>
          </p:nvPr>
        </p:nvSpPr>
        <p:spPr>
          <a:xfrm>
            <a:off x="457200" y="3681360"/>
            <a:ext cx="3926160" cy="1896480"/>
          </a:xfrm>
          <a:prstGeom prst="rect">
            <a:avLst/>
          </a:prstGeom>
        </p:spPr>
        <p:txBody>
          <a:bodyPr wrap="none" lIns="0" tIns="0" rIns="0" bIns="0"/>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33"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520"/>
          </a:xfrm>
          <a:prstGeom prst="rect">
            <a:avLst/>
          </a:prstGeom>
        </p:spPr>
        <p:txBody>
          <a:bodyPr wrap="none" lIns="0" tIns="0" rIns="0" bIns="0" anchor="ctr"/>
          <a:lstStyle/>
          <a:p>
            <a:r>
              <a:rPr lang="en-IN"/>
              <a:t>Click to edit the title text format</a:t>
            </a:r>
            <a:endParaRPr/>
          </a:p>
        </p:txBody>
      </p:sp>
      <p:sp>
        <p:nvSpPr>
          <p:cNvPr id="3" name="PlaceHolder 2"/>
          <p:cNvSpPr>
            <a:spLocks noGrp="1"/>
          </p:cNvSpPr>
          <p:nvPr>
            <p:ph type="body"/>
          </p:nvPr>
        </p:nvSpPr>
        <p:spPr>
          <a:xfrm>
            <a:off x="457200" y="1604520"/>
            <a:ext cx="8046360" cy="3976920"/>
          </a:xfrm>
          <a:prstGeom prst="rect">
            <a:avLst/>
          </a:prstGeom>
        </p:spPr>
        <p:txBody>
          <a:bodyPr wrap="none" lIns="0" tIns="0" rIns="0" bIns="0"/>
          <a:lstStyle/>
          <a:p>
            <a:pPr>
              <a:buSzPct val="45000"/>
              <a:buFont typeface="StarSymbol"/>
              <a:buChar char=""/>
            </a:pPr>
            <a:r>
              <a:rPr lang="en-IN"/>
              <a:t>Click to edit the outline text format</a:t>
            </a:r>
            <a:endParaRPr/>
          </a:p>
          <a:p>
            <a:pPr lvl="1">
              <a:buSzPct val="75000"/>
              <a:buFont typeface="StarSymbol"/>
              <a:buChar char=""/>
            </a:pPr>
            <a:r>
              <a:rPr lang="en-IN"/>
              <a:t>Second Outline Level</a:t>
            </a:r>
            <a:endParaRPr/>
          </a:p>
          <a:p>
            <a:pPr lvl="2">
              <a:buSzPct val="45000"/>
              <a:buFont typeface="StarSymbol"/>
              <a:buChar char=""/>
            </a:pPr>
            <a:r>
              <a:rPr lang="en-IN"/>
              <a:t>Third Outline Level</a:t>
            </a:r>
            <a:endParaRPr/>
          </a:p>
          <a:p>
            <a:pPr lvl="3">
              <a:buSzPct val="75000"/>
              <a:buFont typeface="StarSymbol"/>
              <a:buChar char=""/>
            </a:pPr>
            <a:r>
              <a:rPr lang="en-IN"/>
              <a:t>Fourth Outline Level</a:t>
            </a:r>
            <a:endParaRPr/>
          </a:p>
          <a:p>
            <a:pPr lvl="4">
              <a:buSzPct val="45000"/>
              <a:buFont typeface="StarSymbol"/>
              <a:buChar char=""/>
            </a:pPr>
            <a:r>
              <a:rPr lang="en-IN"/>
              <a:t>Fifth Outline Level</a:t>
            </a:r>
            <a:endParaRPr/>
          </a:p>
          <a:p>
            <a:pPr lvl="5">
              <a:buSzPct val="45000"/>
              <a:buFont typeface="StarSymbol"/>
              <a:buChar char=""/>
            </a:pPr>
            <a:r>
              <a:rPr lang="en-IN"/>
              <a:t>Sixth Outline Level</a:t>
            </a:r>
            <a:endParaRPr/>
          </a:p>
          <a:p>
            <a:pPr lvl="6">
              <a:buSzPct val="45000"/>
              <a:buFont typeface="StarSymbol"/>
              <a:buChar char=""/>
            </a:pPr>
            <a:r>
              <a:rPr lang="en-IN"/>
              <a:t>Seventh Outline Level</a:t>
            </a: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hyperlink" Target="https://arxiv.org/search/cs?searchtype=author&amp;query=Zhang,+K" TargetMode="External"/><Relationship Id="rId13" Type="http://schemas.openxmlformats.org/officeDocument/2006/relationships/hyperlink" Target="https://arxiv.org/pdf/2307.10802" TargetMode="External"/><Relationship Id="rId3" Type="http://schemas.openxmlformats.org/officeDocument/2006/relationships/hyperlink" Target="https://arxiv.org/abs/1705.09406" TargetMode="External"/><Relationship Id="rId7" Type="http://schemas.openxmlformats.org/officeDocument/2006/relationships/hyperlink" Target="https://arxiv.org/search/cs?searchtype=author&amp;query=Gong,+K" TargetMode="External"/><Relationship Id="rId12" Type="http://schemas.openxmlformats.org/officeDocument/2006/relationships/hyperlink" Target="https://arxiv.org/search/cs?searchtype=author&amp;query=Yue,+X" TargetMode="External"/><Relationship Id="rId2" Type="http://schemas.openxmlformats.org/officeDocument/2006/relationships/hyperlink" Target="https://arxiv.org/abs/1806.06157" TargetMode="External"/><Relationship Id="rId1" Type="http://schemas.openxmlformats.org/officeDocument/2006/relationships/slideLayout" Target="../slideLayouts/slideLayout3.xml"/><Relationship Id="rId6" Type="http://schemas.openxmlformats.org/officeDocument/2006/relationships/hyperlink" Target="https://arxiv.org/search/cs?searchtype=author&amp;query=Zhang,+Y" TargetMode="External"/><Relationship Id="rId11" Type="http://schemas.openxmlformats.org/officeDocument/2006/relationships/hyperlink" Target="https://arxiv.org/search/cs?searchtype=author&amp;query=Ouyang,+W" TargetMode="External"/><Relationship Id="rId5" Type="http://schemas.openxmlformats.org/officeDocument/2006/relationships/hyperlink" Target="https://arxiv.org/abs/1610.08815" TargetMode="External"/><Relationship Id="rId10" Type="http://schemas.openxmlformats.org/officeDocument/2006/relationships/hyperlink" Target="https://arxiv.org/search/cs?searchtype=author&amp;query=Qiao,+Y" TargetMode="External"/><Relationship Id="rId4" Type="http://schemas.openxmlformats.org/officeDocument/2006/relationships/hyperlink" Target="https://sail.usc.edu/iemocap/" TargetMode="External"/><Relationship Id="rId9" Type="http://schemas.openxmlformats.org/officeDocument/2006/relationships/hyperlink" Target="https://arxiv.org/search/cs?searchtype=author&amp;query=Li,+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1824022"/>
            <a:ext cx="8229600" cy="954107"/>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CNN-Based Poem Learning &amp; Interpretation Inspired by Human Rote Learning</a:t>
            </a:r>
          </a:p>
        </p:txBody>
      </p:sp>
      <p:sp>
        <p:nvSpPr>
          <p:cNvPr id="3" name="TextBox 2"/>
          <p:cNvSpPr txBox="1"/>
          <p:nvPr/>
        </p:nvSpPr>
        <p:spPr>
          <a:xfrm>
            <a:off x="5486400" y="3657600"/>
            <a:ext cx="3657600" cy="132343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Student Details:</a:t>
            </a:r>
          </a:p>
          <a:p>
            <a:r>
              <a:rPr lang="en-US" sz="2000" dirty="0">
                <a:solidFill>
                  <a:schemeClr val="tx2">
                    <a:lumMod val="75000"/>
                  </a:schemeClr>
                </a:solidFill>
                <a:latin typeface="Times New Roman" panose="02020603050405020304" pitchFamily="18" charset="0"/>
                <a:cs typeface="Times New Roman" panose="02020603050405020304" pitchFamily="18" charset="0"/>
              </a:rPr>
              <a:t>22H51A0586-  </a:t>
            </a:r>
            <a:r>
              <a:rPr lang="en-US" sz="2000" dirty="0" err="1">
                <a:solidFill>
                  <a:schemeClr val="tx2">
                    <a:lumMod val="75000"/>
                  </a:schemeClr>
                </a:solidFill>
                <a:latin typeface="Times New Roman" panose="02020603050405020304" pitchFamily="18" charset="0"/>
                <a:cs typeface="Times New Roman" panose="02020603050405020304" pitchFamily="18" charset="0"/>
              </a:rPr>
              <a:t>G.Maneendra</a:t>
            </a:r>
            <a:endParaRPr lang="en-US" sz="2000" dirty="0">
              <a:solidFill>
                <a:schemeClr val="tx2">
                  <a:lumMod val="75000"/>
                </a:schemeClr>
              </a:solidFill>
              <a:latin typeface="Times New Roman" panose="02020603050405020304" pitchFamily="18" charset="0"/>
              <a:cs typeface="Times New Roman" panose="02020603050405020304" pitchFamily="18" charset="0"/>
            </a:endParaRPr>
          </a:p>
          <a:p>
            <a:r>
              <a:rPr lang="en-US" sz="2000" dirty="0">
                <a:solidFill>
                  <a:schemeClr val="tx2">
                    <a:lumMod val="75000"/>
                  </a:schemeClr>
                </a:solidFill>
                <a:latin typeface="Times New Roman" panose="02020603050405020304" pitchFamily="18" charset="0"/>
                <a:cs typeface="Times New Roman" panose="02020603050405020304" pitchFamily="18" charset="0"/>
              </a:rPr>
              <a:t>22H51A05A1- </a:t>
            </a:r>
            <a:r>
              <a:rPr lang="en-US" sz="2000" dirty="0" err="1">
                <a:solidFill>
                  <a:schemeClr val="tx2">
                    <a:lumMod val="75000"/>
                  </a:schemeClr>
                </a:solidFill>
                <a:latin typeface="Times New Roman" panose="02020603050405020304" pitchFamily="18" charset="0"/>
                <a:cs typeface="Times New Roman" panose="02020603050405020304" pitchFamily="18" charset="0"/>
              </a:rPr>
              <a:t>M.Kavya</a:t>
            </a:r>
            <a:endParaRPr lang="en-US" sz="2000" dirty="0">
              <a:solidFill>
                <a:schemeClr val="tx2">
                  <a:lumMod val="75000"/>
                </a:schemeClr>
              </a:solidFill>
              <a:latin typeface="Times New Roman" panose="02020603050405020304" pitchFamily="18" charset="0"/>
              <a:cs typeface="Times New Roman" panose="02020603050405020304" pitchFamily="18" charset="0"/>
            </a:endParaRPr>
          </a:p>
          <a:p>
            <a:r>
              <a:rPr lang="en-US" sz="2000" dirty="0">
                <a:solidFill>
                  <a:schemeClr val="tx2">
                    <a:lumMod val="75000"/>
                  </a:schemeClr>
                </a:solidFill>
                <a:latin typeface="Times New Roman" panose="02020603050405020304" pitchFamily="18" charset="0"/>
                <a:cs typeface="Times New Roman" panose="02020603050405020304" pitchFamily="18" charset="0"/>
              </a:rPr>
              <a:t>22H51A05A4- </a:t>
            </a:r>
            <a:r>
              <a:rPr lang="en-US" sz="2000" dirty="0" err="1">
                <a:solidFill>
                  <a:schemeClr val="tx2">
                    <a:lumMod val="75000"/>
                  </a:schemeClr>
                </a:solidFill>
                <a:latin typeface="Times New Roman" panose="02020603050405020304" pitchFamily="18" charset="0"/>
                <a:cs typeface="Times New Roman" panose="02020603050405020304" pitchFamily="18" charset="0"/>
              </a:rPr>
              <a:t>M.Manoj</a:t>
            </a:r>
            <a:endParaRPr lang="en-US" sz="20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460374" y="5181600"/>
            <a:ext cx="5788026" cy="1672253"/>
          </a:xfrm>
          <a:prstGeom prst="rect">
            <a:avLst/>
          </a:prstGeom>
          <a:noFill/>
        </p:spPr>
        <p:txBody>
          <a:bodyPr wrap="square" rtlCol="0">
            <a:spAutoFit/>
          </a:bodyPr>
          <a:lstStyle/>
          <a:p>
            <a:pPr marR="64008" lvl="0">
              <a:spcBef>
                <a:spcPts val="400"/>
              </a:spcBef>
              <a:buClr>
                <a:schemeClr val="accent1"/>
              </a:buClr>
              <a:buSzPct val="68000"/>
              <a:defRPr/>
            </a:pPr>
            <a:r>
              <a:rPr lang="en-US" sz="3200" b="1" dirty="0">
                <a:solidFill>
                  <a:srgbClr val="C00000"/>
                </a:solidFill>
                <a:latin typeface="Times New Roman" panose="02020603050405020304" pitchFamily="18" charset="0"/>
                <a:cs typeface="Times New Roman" panose="02020603050405020304" pitchFamily="18" charset="0"/>
              </a:rPr>
              <a:t>Under esteemed guidance of</a:t>
            </a:r>
          </a:p>
          <a:p>
            <a:pPr marR="64008" lvl="0">
              <a:spcBef>
                <a:spcPts val="400"/>
              </a:spcBef>
              <a:buClr>
                <a:schemeClr val="accent1"/>
              </a:buClr>
              <a:buSzPct val="68000"/>
              <a:defRPr/>
            </a:pPr>
            <a:r>
              <a:rPr lang="en-US" sz="3200" b="1" dirty="0" err="1">
                <a:latin typeface="Times New Roman" panose="02020603050405020304" pitchFamily="18" charset="0"/>
                <a:cs typeface="Times New Roman" panose="02020603050405020304" pitchFamily="18" charset="0"/>
              </a:rPr>
              <a:t>Dr.S.Siva</a:t>
            </a:r>
            <a:r>
              <a:rPr lang="en-US" sz="3200" b="1" dirty="0">
                <a:latin typeface="Times New Roman" panose="02020603050405020304" pitchFamily="18" charset="0"/>
                <a:cs typeface="Times New Roman" panose="02020603050405020304" pitchFamily="18" charset="0"/>
              </a:rPr>
              <a:t> Skandha</a:t>
            </a:r>
          </a:p>
          <a:p>
            <a:pPr marR="64008" lvl="0">
              <a:spcBef>
                <a:spcPts val="400"/>
              </a:spcBef>
              <a:buClr>
                <a:schemeClr val="accent1"/>
              </a:buClr>
              <a:buSzPct val="68000"/>
              <a:defRPr/>
            </a:pPr>
            <a:r>
              <a:rPr lang="en-US" sz="3200" b="1" dirty="0" err="1">
                <a:latin typeface="Times New Roman" panose="02020603050405020304" pitchFamily="18" charset="0"/>
                <a:cs typeface="Times New Roman" panose="02020603050405020304" pitchFamily="18" charset="0"/>
              </a:rPr>
              <a:t>Ms.W.Sangeeta</a:t>
            </a:r>
            <a:endParaRPr lang="en-US" sz="2800" b="1"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189710689"/>
              </p:ext>
            </p:extLst>
          </p:nvPr>
        </p:nvGraphicFramePr>
        <p:xfrm>
          <a:off x="1524000" y="228600"/>
          <a:ext cx="7315200" cy="951198"/>
        </p:xfrm>
        <a:graphic>
          <a:graphicData uri="http://schemas.openxmlformats.org/drawingml/2006/table">
            <a:tbl>
              <a:tblPr>
                <a:tableStyleId>{2D5ABB26-0587-4C30-8999-92F81FD0307C}</a:tableStyleId>
              </a:tblPr>
              <a:tblGrid>
                <a:gridCol w="7315200">
                  <a:extLst>
                    <a:ext uri="{9D8B030D-6E8A-4147-A177-3AD203B41FA5}">
                      <a16:colId xmlns:a16="http://schemas.microsoft.com/office/drawing/2014/main" val="20000"/>
                    </a:ext>
                  </a:extLst>
                </a:gridCol>
              </a:tblGrid>
              <a:tr h="80953">
                <a:tc>
                  <a:txBody>
                    <a:bodyPr/>
                    <a:lstStyle/>
                    <a:p>
                      <a:pPr algn="ctr" rtl="0" fontAlgn="b"/>
                      <a:r>
                        <a:rPr lang="en-US" sz="2000" dirty="0">
                          <a:solidFill>
                            <a:srgbClr val="002060"/>
                          </a:solidFill>
                        </a:rPr>
                        <a:t>CMR COLLEGE OF ENGINEERING &amp; TECHNOLOGY</a:t>
                      </a:r>
                      <a:endParaRPr lang="en-US" sz="2000" b="1" dirty="0">
                        <a:solidFill>
                          <a:srgbClr val="002060"/>
                        </a:solidFill>
                        <a:latin typeface="Calibri"/>
                      </a:endParaRPr>
                    </a:p>
                  </a:txBody>
                  <a:tcPr marL="9199" marR="9199" marT="6133" marB="6133" anchor="b"/>
                </a:tc>
                <a:extLst>
                  <a:ext uri="{0D108BD9-81ED-4DB2-BD59-A6C34878D82A}">
                    <a16:rowId xmlns:a16="http://schemas.microsoft.com/office/drawing/2014/main" val="10000"/>
                  </a:ext>
                </a:extLst>
              </a:tr>
              <a:tr h="80953">
                <a:tc>
                  <a:txBody>
                    <a:bodyPr/>
                    <a:lstStyle/>
                    <a:p>
                      <a:pPr algn="ctr" rtl="0" fontAlgn="b"/>
                      <a:r>
                        <a:rPr lang="en-US" sz="2000" dirty="0" err="1">
                          <a:solidFill>
                            <a:srgbClr val="002060"/>
                          </a:solidFill>
                        </a:rPr>
                        <a:t>Kandlakoya</a:t>
                      </a:r>
                      <a:r>
                        <a:rPr lang="en-US" sz="2000" dirty="0">
                          <a:solidFill>
                            <a:srgbClr val="002060"/>
                          </a:solidFill>
                        </a:rPr>
                        <a:t>, </a:t>
                      </a:r>
                      <a:r>
                        <a:rPr lang="en-US" sz="2000" dirty="0" err="1">
                          <a:solidFill>
                            <a:srgbClr val="002060"/>
                          </a:solidFill>
                        </a:rPr>
                        <a:t>Medchal</a:t>
                      </a:r>
                      <a:r>
                        <a:rPr lang="en-US" sz="2000" dirty="0">
                          <a:solidFill>
                            <a:srgbClr val="002060"/>
                          </a:solidFill>
                        </a:rPr>
                        <a:t>, Hyderabad - 501401</a:t>
                      </a:r>
                      <a:endParaRPr lang="en-US" sz="2000" b="1" dirty="0">
                        <a:solidFill>
                          <a:srgbClr val="002060"/>
                        </a:solidFill>
                        <a:latin typeface="Times New Roman"/>
                      </a:endParaRPr>
                    </a:p>
                  </a:txBody>
                  <a:tcPr marL="9199" marR="9199" marT="6133" marB="6133" anchor="b"/>
                </a:tc>
                <a:extLst>
                  <a:ext uri="{0D108BD9-81ED-4DB2-BD59-A6C34878D82A}">
                    <a16:rowId xmlns:a16="http://schemas.microsoft.com/office/drawing/2014/main" val="10001"/>
                  </a:ext>
                </a:extLst>
              </a:tr>
              <a:tr h="80953">
                <a:tc>
                  <a:txBody>
                    <a:bodyPr/>
                    <a:lstStyle/>
                    <a:p>
                      <a:pPr algn="ctr" rtl="0" fontAlgn="b"/>
                      <a:r>
                        <a:rPr lang="en-US" sz="2000" dirty="0">
                          <a:solidFill>
                            <a:srgbClr val="002060"/>
                          </a:solidFill>
                        </a:rPr>
                        <a:t>Department of Computer Science &amp; Engineering</a:t>
                      </a:r>
                      <a:endParaRPr lang="en-US" sz="2000" b="1" dirty="0">
                        <a:solidFill>
                          <a:srgbClr val="002060"/>
                        </a:solidFill>
                        <a:latin typeface="Times New Roman"/>
                      </a:endParaRPr>
                    </a:p>
                  </a:txBody>
                  <a:tcPr marL="9199" marR="9199" marT="6133" marB="6133" anchor="b"/>
                </a:tc>
                <a:extLst>
                  <a:ext uri="{0D108BD9-81ED-4DB2-BD59-A6C34878D82A}">
                    <a16:rowId xmlns:a16="http://schemas.microsoft.com/office/drawing/2014/main" val="10002"/>
                  </a:ext>
                </a:extLst>
              </a:tr>
            </a:tbl>
          </a:graphicData>
        </a:graphic>
      </p:graphicFrame>
      <p:sp>
        <p:nvSpPr>
          <p:cNvPr id="30722" name="AutoShape 2" descr="data:image/png;base64,iVBORw0KGgoAAAANSUhEUgAAAEwAAABNCAYAAAAMy4KOAAAAAXNSR0IArs4c6QAAIABJREFUeF7tvAezG1eW5/lLB48H4HnDRyuKIiWR8iVHUa5LrlS+a6Z7tmNntmc+205P9O5GlXyVRIqkbMmXRO+e9wYeSL9xTiZIVmxsxHyAASP1BCCRee//HvM/5qYRx3HM/3r9TyNgCGDR/+f0GPmHHvIa/DX0nYGBwhzL/4FhJH/ls+RzOUdP1FcUh0RxhGEZmKZFLF9EoR4mAQYRxB74fXB7yXd2Bpws2Dk9QsNBzo707gaWARYhRhySrLlJjJXedDDOuyYmpxgxhg54MLfo7+aZfConyLWM9P/1B3ohR38ax3GQ4nFH1ORCIbExgDL5xlCADEEIYhNB2pR/A8CiZK4yflNua8oAYvwwICTAtA0sO6MDiUIfM+hjRy4mLoQt4vY2UWOL2HMx8yXM0jAUh6EwjGcVcSOHAAvDMMmYMVl8rMgjFtBwiMgQx5YupJkOc7DuMiaFwJSFi4mNAOR3OscEOJllhCyoTaSLI9dKFxgoyTUFsFDRT+VIsYmIDRnEHQlLoUrXVyTMVGDkczOBUVc6jtLVlYvrlVIJE9kQsRAJE0kMPczQxQ57GEGbuLuFt71Me2OJwO1RqAyTH5nEqk5hVKYIs1X8OIMXy2QMbCMBzI59nTiGTWw4xLJUcTIiESS9lwxCpTDCECkT0MwIDPndHW3S0xSoBDC9lgIoUENxIGGRXDRVIb2J/EuRv1tbB8Ak6A7U8rbmpSNLkFLRH6ipam8i4vJX7xb5mJGL5Teht0u4u0R79Qa7K3O4/S6lao3KxB5y4wewxw8QFycIjTxu7BCKBKk8BdgDlRY4DJVrTFXNRNKIBuOU1U2VzkiASwAT4JLPVfJT1RawkkMAS/DJDwCTFbgNWCpVcq/k0zuKOpAyBSuKE4lKfYbaIV1BMFQf7kLLsIhNmyhOzpKvzTjAiMRm7UBzFXf1GruLl9lauk6316ZQGmJkej/VvUfJ7TmGUZ0ltkp45PBjE6IIOw7IiLQYEVEcqK0UdbUMG0MtjoAmEpeuXrpWiZGVkQhgKWgpYANbeAcwAS1BIXsbMLE7inKi5wqV6usdw50oX2rEBawoWRkFKNX+mEAHIoAktxDbICucUXkII1n5GMuMMY0AU1SxvYa/NUd3+RKtlau0NxZx3Q5mJkd5dIba3qOU9j6ANX4P5EcJzSJ+7OiCidF3VFoELI8IX8djKmAZtT/ENob8FfVS26s2IjEWKl2DQ0BMDPzfgzUw/ncZfTFiA3s1AOUOVqm0DOwUMZGAJV5PxyBnir0LCGNPTDymIYAkKqA3j/NEUYFIAItjLCvEkvO8OuHuPN3Vq3SWLtBbv0HQWCcMXELTIluZYGj6XgUsM3UfVmUPcbZKYGSJIlG9CNsQLxsQ0SOkn1pNAcmB2MEko4dhqI9TnBKjLbZsoKapWopGp94xMSGJdKrnNECWQY0+gUw4Af/vABNxVruTfK4SLYskOqzGUyRMKINPEHbxgi5h3FdAbKUQ8kO5TRniCmFoqWRaZoAddTF7m3jr12ksXqC9dIFwZx7HbWAQEhkW5KvYI/vJTd2napkbO4g1NEVkldSDJVMSwES6OgSx3N9X1Y8jByPOYpPHtgpYRlYlTc1P6uXuLHgqZQpYaohSabsbMMuwBoAFiYQNDNkAHtX9u/R/4ElT6RHbEePiBh3a3V3a3R3coIVlB2SyJpmsjW3nyVgjZM1RDGTQYBlCKdrQWqG3fIXG/I90ly5iNpfIBR0c2yAybHy7iF+cwBq7h/zeByjPHCEzug+cIURGxWaBRxj36Hk7dNw6ftAnDEUSsmSsMvlMjUK2Rs4pYRmZxIvLz+62NmrTQjGsifEfSM1tJ5WcbxqyCCphfnLibcAGhvIuwAbSpQ5SJEskLNTBtvs7bNdX2a6v0OltY1geuaJNrpghlylSzE5QdKbI2SUc08YxQgy/SbizSGfhIs25H+kvXybTXqMQd8k7NrGVoRtnaDtVotp+CvsfpHrgAfKTByFbwYvB8/sEUR83bNPorlNvb9Bze0SB0I4ixdwo1fIUtdIkpVwNx8wnPC1hE7e1KeFHd2zZwJ4ntvw2ephGJgEsjry/B0yNZaKOd7/US8cxoRK+EMuO1XY0u5usbs2xsnGT3dYqAR2yeYO8AJYrUMyOUclPUS2OUsmVKVomhtvE31ygPXeZ1twFwtXr5LpblOiRdxxiK0srMKkbBfzaLKVDJxi+9ziFqYOE2RItv0ejVafTa9L1m9S76+y2Nun2+8SBTc6uUqvMMDlygPHaXiqFMTJmkTiylVxbQq7NO44s8ZyppN3FDu5Im0iYaIi+BoClEqVgCWgp30tRS7x5hBf6auRtR+7q0upvsbJ1g4W1q6zvzuMGDaxsSDZn4NgZsvYQQ/lxxoYmGa+MUsvmyfg9vLVFmjcu0Vu4irm1SLG3SzHuk3NssLK0A5MdI4dbnaF06AFq9x0nNzVLz7LZ6jbY2tmg3tqm4zXphk26bodu3yMOMxSzo4zV9jIzfpjJ4QNU8uM4RpEotAkDmZ1BxjZTL59OUB1YQo8GlOoOqboLsAgvlSWhAAkpVYZ7V2yo4imAxRGu76oLdzIxpuXT9rdY2b7B3OolVrZu0vV3wOpj2RLnCV/KUsrWGK9MMD0yxUS5SjkGd3WZxpWL+Mvz5JqblPsNCqFLxjQx7SzdyGLbzNGrTlI8eJTqkaNY4xPUY5+V+gYbO2vsNjZpe00iJyI0DfpuTBxmKeXHmRzZz96JI0zUDlLOjGFTVMcjFsg2LLKOiSVSlqpnon1ilwegDZxAYttMcomE+bGbGEGNCZPQQoyjgCegCW3Ri6mWikqKG/fA9IiMfgLYznXmVy6xvjuHFzexMj6R6eK7PczQpOgUKToFavkqM7UJZkpVwvVNNn/6EWNjnRGvR9ltYffaGEGI5eTwrTx1p0CzWCOz/yDlQ4fwKiXWenXWWhv0/BZ9v0mj3yK0ILKz+IH8T4FyfkLVcc/YYcYr+yk5Aph4a4c4tDQecMw05tS5D/jkgPWLZ0g5aSqAtjqtOI57US+JvQy5gLjOFLA0K6HOIA13hEpEhISGS0yfkC7tYJu13ZvMr15ibecWXtTAyonc+wR+VwFwsHAik7JTYnZ4mgPDkxhbDdZ/vIC1scVY4FPxuti9LvgBhpXBs3M0FLAhMvsOUDy0j27BYbG9wXp7ndDoEtCl5XYJbYdYvGpgJ4DlEsBEJcdK+yjaY1iUE06WklkNbe+y1Amn/P8HLDMArBm2NYA2Dck8iHYnoN0JCNOUTSphyrvoK2CR0aMX7rDWnFPAljeu0/F3FLBMLsY0feKgT9yX9E1IyS6yd3iGA8Mz2Ds9Ni9exVjdZMT1qHku+TDACCVXYtLBounkaZeGyB0QwGbpFi0W2qust1bxjZZKeC/0IFMCq4Tr2cRBjpJI2OgBZsYOM1rcR8EUwEqYMmmloCJlhjKJQcQkvE7E4W6V1ARCGgXlBirZjDpJ1kEBS4JXASyJk5WppsxMLihUwlNWHZsusdFXidruLDG/foWF1SvUO+vEVp9MwSCbjTFil8DtEvd9ClaB2doeBSzbCti9fJNgaZ1yu0vN8ykro9ZMF60wpm5l6VarFA4eoHBghnYhZqG5wlpzGd9oJFIskzQLhJTwvQwWRSqlSSZHDzE1cohaYQ85s4ZJAYMcZizs39G5DuyX2uvb4dwgT5basPSk/G0Ji1OVVHKmGS7MWP47cI+aB0oSfRICCVkkAcswhTi2abjrLG+JHbvCxu6iciMnF5PLG1iWj+91CfsueSPPzPAe9g/PUOxB+/oivbkVsrt1Kp5PzbTJWhnNPDSCkF3LwR0eoXjwANm9EzSzgQK23lzCp47pBMSmQRjlCIICxAVyTpVhoRSjBxmvHmAoN4ljVBQsIbQiZRoySTSRusGBIqqESVIhjXsSapqQ2YKqcxzHLSQGTKVIk38GluaUkoyQedtdyroLI5ZQSn7TwzCEkvTpRbtstBZYWLnCysYcze4WkemRycbYGYm+XPx+n6yZY6a2h721aaq+hbu4TvvGIvH6BkOeS82wKGYLRKZNI4yoWw7B6BiFAwewpoZpWB4LrWU2Wiv4UR07I/bOwvcsAi9L1qlRLU8yMbKXidEDDJdmyVsjmJQgFqMtKpnV2NKQLMpdweBAGZMsjOZe/o64FgahUQNh+lEiRZprEmInaeABYKKaEoRJ3CY0OSCOXeKwi2G6GHaAb3RodlZZ27zF8votdhsb9CUbYfqYGQiNEM91cYwcU9VJ9lQmGCFLvFmnc2sBf3mJYq/LEFDI5MHJ0AyhnclhTEyT3buPoFZihz4r7XV2Oht4UR0nE2FbJkEfIs+hXBxjfGSWidF9jNT2UsxP4BhVjLhAHGVAYsxBMG46tzMUaVx+m7IKQxDxUIuUgioKrRJWl7SMhvGxSpOm3+Ikq6lZ8kHaMpLzJIUTEId9Yr+tKmlkImLLxXO32dldZn1rkZ36Ou1eHTfqE1oRvhHjej62mWW0NMJkaZgJO0+206M7v0h/YY5su0khDik4ST6/E1v08yWcmf3Y03voFrJsBl02uju03F28qEnGCclYJvRjzNChNjTO5Ng+xkb2UhqaIuOMYIh0RXkFS4NyyZXJKpqWJO9STmGm0pRkJ5IUdRJ23gEsTVHXBx/HcpoY3TuHIZIl6RwBS2NOoQtiIT1wW6qOZGKwfaKgidfdotXeotXdpdtv0nY7tEKPVuDRc30drIRHtUyeyUyRahjgrS7TXbiJ09wh4/VwpBhg5+hLsFwZIb/3MExMs2uZrPW71P02bixxZBvb9MnbJnksCmaOanGY4eoU5fIkTn4U0x6CuAhhLk0BZhOwlIWnXEnuZ1kJgGaSaRUkBKzbnD+GwiCn30gFUaRLTrfTQ5OzEnj5HgRCC0QNJZUSEAY94n6TWLKmttg1nyhsE/pNoqinxNaL+nT8Pu04oh1B25VzRCFschGMZ3KM2xBsrtJduonZ2MLsNTHCCOwsgZ3HHJmifOgYjEyxGYSsdjp0JLOaFXPcx8KjYEu+3aQQW+StPLlMGSdTUbAMs4yh3rGAYRUw7DyGncOyJEeWgiQSakk4ZoMptQFLnY7YMAUtdQy3ARM5GaQ7ErAE3wAzBSuW0le/C16HyO3ieT3cXpOw1wQBTMCKPYKgo+keiSHzBUfFtBeHuE4WN5Oj40e4bkjkhsTdPsOOzXTBIdpdo7N8k6i+QdjaIZYFkjJbtkx2YpbK4RMYtQnWO33WW1082yRXymKaHmbcp2CGFMIQpx9geBFRYBKFonp5DKOAaRYxrSJmpoSZLWFlimTyRex8EcMR9bTTsl6iqrFlaz5uIGWyfvIqivYmXjLN94hmGQJYiBl7GH6fuNskaO4QtLaJu3XCbp1+c4decwu/11BbBilgkvWwIk3rFIp5sE1c08SqDuMMT+CZWYLQROKY0A0oORmGcw5Rc4vW6hy93VU6O+v4bh8nk6MwVKM8tY/y/qOYxWEa3T6Nbo/IFM8rVqJN5DfJBD3MVou41SbqeQReRBhIpjcLRg6sPIaVx3QKmE4RK1ekUBulNDqBUxzCzBYwMkVQZyPjzhGZWc25Sa5RLLcImXBEBayRsl0x8I4CJmy7pwAFu+v0t5Zwt5eJWhta4YnaOwSdHUKvBWFPvacQWmXEtomTy+Bkc4SmAGZhDCWAxbkypuTEnDKWnSdXKJPPZon7bdqbyzQ2l9jaWKLf61Aolhgbn6Q2vY/c6CymmcVtd+h22/h+j0jiyN4WkVsn43cxOy1otcELiIJYk4hJjTFDbGY1v4aVI7ZyCowzNExxZIp8bZxcZQy7PIKRr6hU45SIrLwWjwP1lonxrwwA2xYTBGQMOWJswwdJ8O2u0lu9SWPpKt21G8TNVRx3l0LcIScpZjnCPoYmmIxEvG0RZ1srO25k0MOka2cIcmWs4jCFoUkqw7MMjezBqU1AXvhRjNvYYmNtjoWlm3S7LarVKvv3H2B0ai+GhD0dl7hRx2vv0q2v09xeoF1fAm+HfOySC3wyfohmnNTzJV5PQJNiXGjaBIYjlUw8I4Nn5bAKw5TGZ6lOHSQ/tg97aBwKNchViOwSoZETw5SSLqgOqkabokkmZPWIsaWY0d+lv7VIa/k6zaVruJu3MNrrZP1dClGbXNwjg4sT++pPNJNkmoSGvLszSM+0FTT5K6uXKYySL89Qqs6QG92DMzKJUSoThi6t+gbr64v0e20qlQpjU1MUh0ZUJ/zNbXorS3Q3l1R13fYqsb9FwepTzhhkxc74IUYQac5OVEkLGVI4NjOEVobAdBS0Pg7twCCwSwrY2N77GJo6iFObxpBKe6aigXwgJkT1LVFJ4Yiqkltu4lUdKb+LhAll6O/S216mtXJDQetvzkFrDcfdUcDy9MkbPlkplyF1wWSQfiTzMwlNyR6IKti4UaiH4RSwsiNY2XGc4iTZ4RlyE3txxiexilm8oEezuY3v9Sjm8xTKZS2Z+fU23aVl2otzuFtLRJ0NDH8bJ96l6LgUHQsztoj8mCiUqlZMqN0MFoYl48gQmhl8w8LFphdbdHxTARua3MfYvvuozhwiU5vWtgScMrGopKm19UEJQNhcasOEvGscGWmHggiu4bXxW9v0thborN6ivXaL/vYCRnuDbNihZPgUTJ+sqaaRKArxwwg/kNSiqaGN1BZNYeGhSxR62E4eOzuCb9ZwzQrkRsiP7aG8Zx+5qXEo55MWhUgiihgj8PG26zQWV9lZWKC/tUrWbVA2uxSMFna4DcEusS9VK5NQcl0S8lgOpiNHBsNJ7JeHRS+EThDRDSxCu0CuMk51ej/DM/dQmtiHVRmH3BBYBTBzhCpdYmISp3i78t3VzKrET9INE0jJFVs8n9chbG/jbS3TXZ+ns34Lb3cFOjs4QYdc7Cm4pvY3RISqClLxMYl10FlV9TjoaWeOLattDdGNy3TjIlFuhOLkXkYOHKK0dwajWiTUOFVKcSb0erRX1ti6tcjuwiL+zgZ5v82w4zJk9ciEO8TeLr7n4kkLgZVX7yb3lvhSq+2WSJej6ugbNp6AYOXIlEcYGt+jR35khkxlHCM/BLaAlU0cBdIxJJwsUcncwOhLGK3FjVBixCDpg5GoQY1Hh7i1jbu5QndjXm1If3eFuL2LFXSxhFZIPkrDpiR1KQNVwCw74cxBDzvoIXW9gCKdqEDXKBGVRilP72f04EFKe6aIyg7dyNUiSy6bwXQ92ivr7C6t0VxaJdzZIttrUKFHxeyRj5vg1/F8D9fI4jslQiubcCjDVMcjKiWgxU5OOZiRK2IWhiiNTFGd2qte0irW0nxaDqShxRCPKoClJDa1YZkBD3O1vUXskDB7aSgST5lEVFIkxesStXcJm1u4u+t0NhZwt1eJug0it03gdogkEtD2gaRDRwYtVzCjgEzoIv7GMS0t9XtWhagwjD08SXF6D4WZaYxqjnbUYaO5ST/0qJRKGlOaXdEjj2C3hb+xhbe+jFHfJOc1KdIma0jWN6JvOPSMHJ5IlDid2MCLUKmKnTyZYoVCdYzi8DjZ2hiFkXFy1THMQkXZvzQCJB1Jwv4zGJaEUFLXSNP0coadBt+uUAMtOUlCLekP0t4JiS0NIbE+hmRN3Q5hr4Hb2CCobyQgtsXVN/DkO18I7CANZyh+Ei1k4oCCeGCxadkKcXEEhkawqiPY1SHCUoYmXTa7G6zsrNLzuhQKOSqFMsPZCiO5KoUwQ7DbxltZxV9fwWzvkA1aOJHElAH92KAnqieSIelq0yGSw85h5kpkyzWKtXHyIxM41RGcQkJYhagaEltGpo5Xahmm5YAcaUYwyW7FWFJlEi/p+i0sy8IUQy0mPBLjHRKHofZISPOIJV0ypGkdtw3dBrR3iRo79Bs79BS0LkEgjSFp/6KkiGJpQzHI2w65fFFth1kbx6gOExcLBKbPjtdgubXMUn2BtfoqHSmGWCbVUoX9Y/u4Z+oeJorTGH2I13dwV1cJd7cxew2VfgnV+mGIL5ItUpnJYWUKCoiAZReGyJRrZIeGMSsjIFIl9jQyMCTFI4fY3kjSWxJ/20mcqaWypHQmdtWwpGdDOhD9enKSXETcs9ADdc9JJ45lGdhSYYkDgqBHT6Vql7jbIG43CNp1+p0mnsScUlazbTLZLJlMBtt2yGYKZDKFZHASngxVMSplJD3VdOust1ZYbMyx1lqg3tvS1gMpzxWzJWZHBbCj7KnuJx8VMJsBNDrEnQ6G1yP2ekpDwkikOzErsrRitwy5Z6ZInMkTZwqQK0JW3he0KuVkstjqmESaEkOVdJiljV2aHxzUGiUhkLYK+P0trNSrRbGFHxnCAZOOlaR3ib7r0Wk1aDd3aNW38XtNbOkglDDF7agdC6ReKVVS0XfHoVAoUK7UqI1OURKXbTh03YB2GBNkDOySRWD12eqssrRzjc32Io3+Jl6Y1BjymSJTw7Mcmryf2dphcnGR3lYPd7uNE8FQMU8+axNKb6zfI9asbo9Op0e906PZD5SoWoUh7OKQqmcvNHDDWOuepaEKlcowlaEhCrmszvV2NVGlLckPDlrAJIpJymyNZZxsHitbUM/Q92MloHbG0qKqF4QsbWxz4/p11hbnae6sa7tlOWeTd0TyfIzYJ5bcVr9Pp9MmDEPK5RLTs/s5cN8JpvcfwbZyrK1vcXNhiXqvQW2qwvhslba/w/L2VbY7i+y2lnD9NtlsjkKuzMjQNPsn7mdf5QgEDreuLLM6v0YlX+LIkXuZnp4Eqav22xqT9uo7rK2uceXWAtfnl2i6AeWRSUam9qjx36q32a43NSIZHZtg//6D3HPoANPjw+RtqZilPSlhhBnFONogmGYnrLR7p19fwc7ksCWXbti4IbjCljHpdfssr29w8co15m7dxOt1qZbyTI5VGa2WKGRMpXeWdL/EIc1Gg+WlRTY2N7RjenrvAY6deJyD9x0nkytyY26Fv379HXOLc0zNjvHIz45RHDLZbS9Q7yyx3VjE9VrksnkK+bIWM2bHjjGW289uvcsXn33HpQtXGKmO8Nyzz/DAsSMamRh+B8Pt0t7dYX5hka+//xtffvcDu12Xffcc5f6HHqNYHWVzt8ny2jqLK2t0un2mJiZ45OGHePj4MWbGhrURxhbUUsAkTT+oVUpDs0qY19q4o5KmdI6a9MOIRtdnbmGFv126zOUrV2i3WoyOVLn30H4O7p1hrFoiZ4t9k8a2pLGuUd/l5q2bzM/P0XNdRidmOHriUQ4feRAzV+DC1Vuc/ug8Fy78xOTkCC++/DSH753GsNq0uivUm6v4fodsJksuV6JSnmJ86CBONMyNhWU+/PA83//tAuNj47z5i9d46vGHyQrXi3rYvku7Ifef5/wXX3L6/KfstPsK1skX/4GJ6VkarS5Lq2v88NNFLl26rIH6Iw8d56VTJ3nw6CFGy0WtiBvS4ThIzSddxTjOoBnFbyuNiISH2FlM26EXRNxY2uLMp3/lk88+Y2t7mwMH9vPkzx7nkRMPsGe8Rjkj/aRJiX3QaywNISvrKywsLrBTr5PJF5g9eC97Zg8iDeY/XLjC6T+f5buvv6eQz/HyC8/w8ktPMjtToS/xq1vX/JrQOXEUhewIGavKVt3jq29/4vTHn3L56jUmpyf59W/f4LlnnqBoWUhDuhMG9Dod5hcXOffZF3x49hz1do+HH3+KV954kwOHDqlT2G52+PrbH3jvvfe5duUKszPTvPnqK7x46mn2TY2RNU2VMiuS2FRCNemdlfGkgBF0CULpJJQUTQ7DtNhodPjqh8u8+5cz/PDjBcqVIU4++xTPPP0E9+zfw1AhS8J8pY4nyhtjGVIfDGm0G2xub1FvNjT4Hh6fYGRknI4f8s23P/L+2x/x7Zc/IJ3fzz75M373m9d49MRBDMMnjPra5Ku9sHYG28zjujaXr63y8SdfcO6zz5lfmmd67xS/+w9v8vJLJ6nmCkl0Ig0ursviyiofn/+E9z/8iO16i8eefJo3f/0bjtx7SPlmq+9z8cpN3nn7XT49f45SPs+v3niN137+Igdnp3AMU22X+E4RJDX+ptRXBx2IYT/hXUJdnRxeGHF9cY2/nPmUd/5ymrX1TR56+CHefPM1Hnv4GCOVYkI30vgzkmBZ6IRpYZmWtkO1e11ava4mfnKFPMVCiXbf5fPPv+WP/9f7/PD1BcJeyIljD/Iffv9rXjr1CEMVaa9MO7HVx0vgbrC94/LXry/z4ZmzfP7N16xtrTCzf4J//Odf8dqrLzJWrSEJaWkACIKQ5bUNzpw7z1vvvsfmzi5PPPUMv/397zh25JDGthKE35xf5f33PuD9d9/Vytiv33ydN155mQOzU5ixoYBJNcoQwKSKpo0rgx7XyCPUTmoTwzLZanX58tuf+NO7f+GTz78kVyjwyzff5FdvvsLemVEcWyrjKQ+OQ8JIym4BlmViW1IVMPGiEC8MCSSgt2Icy6brepz9+Ev+/f98m+uX5wh7MdPj07z84ou8+spzHDw4SbmU9tOm9cBOJ2ZuYZsvvvqRTz7/gh8u/Mjm7hqTe0b47R9e5403X2ZmYhJb2ynFVkesrG9x5ux5/vT222xu7/DkM0/zj3/4PQ8eTgDrhjHXbi7y3rvvc/b0GUrFPL958xe89PxJZsZHtFQk2pKxkvZ6AU1Qy4oXTRrqZNJJ4Cw5rYW1TU6f/4K33vuAH/52ganpGf7lX/4Tb77+MrWhrF5Qy3FqvyRhFyShlClCIVtbpIwCvgT08r16UZNOt8df/nyO//t/vMfOZgsjlJ4em3sPH+aFF5/hZ088wPTMkE5KJNj1IzY2ely7vsKFi9e5ePkKl69dYXVjkepIgVffeF4BO7h/HxlbTD8EYcTq2janz57jrbcEsG2efuYp/vCH33P8yD1q0Nt+wN8uXuGD9//MpZ8usGd6ijdeeYXHHz3B8FBJN5bI/eVcbSoUcxXFFLIpD9OCpcQLKHdIAAAVHElEQVTdhvSNhly9ucAHH33MB3/5iKvXbnLw0EH+23/9V9545QXyjnpcBUvEVtvL0w1S0huqtfI08BbuG6Qd1yKR9WaTd989zbtvncaI8+SyJbY2t1UyH3/iIV559RRH799LPpvwoWbb49atLa5eXWB1dZvtHfGAt7g1dw0nG/HMyUd54xcvcfToveRzeU30eUHEyuompz8+z9tvvc3W9iZPP/0U//iH33L8yGEFodHr89W333HuzFmajSYPHDvK8ydPcvjgPnKOo+AI208EQiqNIUEYU8qlgEmDbSghhWHg+iFXrt1Se3H23HmuXb/F7Ows//X/+M/88rWXKDmJFAr4onxJRkO6EgZsJenISCJPQ72SeFJxKovL67z73hm++uonpib3UakOc/naVRYWbzGzb4xXXnuep559mInhYWX6azu7XLo4x41ry9hGgVy2zK0bt/juu6/pdRscP36Y115/gccefZBKuai5dzeIWFzZ5MyZc7z91ltsbKzx6GOP8MtfvMGRw4c00SnAX7l8iYW5OUaGh3noxAmO3Xsvw1Up+srGsUhNjqMhobgz8ZaQdVIb1tMuwwQwkbDL125x+uOzfPLJZ1y9dp3pqSn+9b/8Z379xiuaP9ftLwKLbG6QQzcJpCX2dHtMUgRNtp2IJHZ6fX68dJO/fPgJSytbPPDgCcYmJ/jy26/59IvzGBmfF15+ipdfPcW9hw7p9peF1RW++/YSc9dX2TO5n4Ozh7lxbY6zZ86xsbbMoYMzvP7685x85hFGakOSiKLnRywtb3L27HneffcdVleWOHr0CC8+/zyzs3vodFqsra6ytrKEY1kK1sMnjjMxOobj2JqxSCr9iaF3xD6kH2XtNEXdTT+QxgvxMlduzPPRmbOc/+RTLl++zMTYGP/tX/+V37z5GqVsuptDq+KBXly9h17YTLusU7nTfjOUfgjD/uTLv3H23NeaYDz10kmm9kxz+pPz/Psf/52VzVs8+tSD/PJ3r/GzJ54gZ+W5Pn9Lmb0A9tgDj/Hk4z/j2sUF3vrjB8xdv87M5AhvvPE8P3/xSUZHq7oPpO9FLC9v8sknn/LB+++zuHCLvbN7eOSRhxmuVVlbW2FxYY5+t8vRI/fy+uuv8/D99+M4sr3ndlcqYSit9UIlkv44wbAwkLBOWgoXchaGEfMrG5z75DM+/Ogjfvzpb9Sqw/z2N7/hF2+8yvTEKBnb1qA0SWkn/EtTyqkKasUmbQGVa4qELW3ucPr8X/nq65+ojgzzwksnmdk7w5fffs87H7zL3y5+R7mW4+lnn+DUC6cYGxnnwoWLfP/tRUq5CieffoZ79h/g6sV53n7rz/z0/Q/kcw6vv/o8v/nly8xOjitgvi9Gf4ezZz/h7XfeZmV5kaNio049x9jYKEsL81y6eJHFxQVqlQovPH+KZ596munpKTIZW01H4Etay8RxhCYZ6kh8P2Y4n3rJQU5/kP7ZrDf469ff8t4HH/DV139V9E+dOsXrr7/G/UePMFQopH39g+7idGfuXRu47t6EI4DeWlnjvQ/PceHSNfYfOMALLz3LzN5pLl+9xblPP1G13Nxe58ChfZx87iSze2a5du0GSwurPHD0AZ57+kmGhoa4emmO99/7kC8//wLP7fPzfzjFf/rDr7hn7x7d7CCSsbq+w8dnzvOnt/7E2toqTzzxGL/4xevqDZeWlvjhhx/5/vvvNNS7//5jPHfyJA8+8ADjo1p51C4jibgzjq0SJtf0g5ixAWB9KYeHA2ph0nX76sIFsDNnz1BvNLj//vv51a9/xamTzzJeq93pZtdaQEQshlLslWWrsRRJDiNppEtasK/OL/DHd97j1twiJx46walTzzCzZ1Ind+HSZc6e+5hvv/1Ws5oPPvigAtbpdMnlcpx85iQP338YL4q5euUmpz/8mPPnz7G1tcXzp07xX/7lP3LsngPqjGQs62s7nD5zVgHb3t7h+VMn+af/+FsOH9zP1k6THy9e4ezHH/Pdd99quPPII49w6rmTnDh+lGqxQD8IcYMkvyXzkcqXeMvaQCVlZVw/0KShZUseO2J5bY3PvviCDz78CxcvXaRUKvP0s8+qaB+55xCVao1cNqv2S6tFgYixQdayNK8k77vdnm40sDJZbiws8v/86U+sb2zy3HPPcfLZJ5kYH6HZlmzIOp9+9jkffvghq2urDNeGmZic5MD+/Tz44AM8fOIEe8aHdSJz8yucO3uOjz76kOWlZZ5+6mn+93/5Zx46dq9OyvdDtWGnz3zM2++8w+7uLs89+yz/9E+/54Ejh3C9gPmVdb759ns+/+xz5ubnyOdzavwl9Hvgvns1LSWL7eliW7rRTI7yoAjix2IsfQLZaWY7OBY0uz2uXr/ORx+f4dz582xubbFn7yyPPfqYGtCDhw4xNjyivEVecgMBTOyVkFgBq75Tp93tkSsNMb+ywh/feotWu82rr77Ks089wWh1CC+KaHddvvrue/701lt88803eJ7H5OQk//Dyy/z85y9zYO8e3R0i525s7PDJ+U955923uXHjFo89+ij/2z//E088/CA5y0oAWVjl9OmPef+D99jdrfPUk8LDfsfD9x9RuyRNLfPzy/z1r19x/pPz3Jq7xfjYGCdPPsupk89wz75Zsvk8vhZAzCTjrC1VqZd0/YSRyxKZYrzTILrZavHT5ct8fO4cX3/zDVs7OwwP1zh+/DiPPvoo9xy6h7HhYU3FJBsDDA2R2q0225vbbG9v4wcBleFR1re3+fNHH6nqi2d64vFHGalIG7g42pjLc/O88977/PkvH2pmRNj/7377G1588RS1gnRIJ3nPbrvL+U8+57//j//OpUuXuP/Y/fzhd7/jhWefYrRSptf3uX5zidNnzvDhR39hd2dXVe6Xv/oljz18nEpZ9m1G9LouN+bm+OjMx5w9d1bP27tvH08/9SSPP/ooB/bvpTA0lEYuyYb/24D1vXTvo5lQUPEKg4czbO/u8tPFS3z59VdcuXqFbrdLtVbj4MGDHDp4iPHRUc3dS+hjW5ay4ka9roD1ez2NQ2sjo2zt1vnq2280E3Lq+VOcOHGcsWHZlmervVvbrfP5X7/mz3/+s6rtiePHee3Vn/PAsft0X5BogRRG/L7Lp19+xb/9278p5dm3dx8vvfA8zz39FDMT4yphN+cW+eLzz/nss89oNJscO3aUl156iYcfOs7IcFWNuSzUdr3BN9/9wKeffsq1a9fUtOzdu5fjDz7I0fvuZWpmmnKpTE7S15ZsnBlImBep2Mmuf8la9FxP9yLms9KpZ7LdaHDh0iV+uniBxYUFlQDxnFNTk9SqNVVFoRW5rLR1Q7NeV9AEyMmpaSq1mgJ249YtnGxWjf6R++5jYnyMUiGHbRipfVpM1H9zS9n5E48+QqVcVvsqKp/LOIS+x1ff/cBbb73FzRs3GK7WOHr0KI89/Ah79+zR1Pjy8go//vgjP/30ky7wgYP7ePzxxzl67Bhjo6Oah8vYFn4Ysrq2oYlEOX9+fp4gDJiZ2cN9R+7lnsP3MDk5Qa1aUdNz57kVKUkTWyQXETWScMByxONZBIGvoEkgK55pcWGReqNORuyX7Ft0XVXlcrGkn7ndHv1+j/LQEHv2zJIvFhWw7Z0dLMdhZs+MHiMjI1p8EMCl7tfqdHXwjVaTw/ccZlby9aaJL1tppPc54xAFAdfn5vjxbz+yvbWl2ZFyucz05CTjo2Oas2o0GiwtLrG8sqxEfGJijIMHDzA9Pa3URDyvSJkh/Wt9V+3cyuoKS4uL7OzuagFHONv09Axj42MKWD6b0TxZul8y2aWm4VHaoy72TJi/TEbE148jvCDQFVtfX1fvE/gBrtvH7cm2ZYtioUg2k9GCru/7lEolxsfHsaWFXJrh+n3teSiVi9r/JROVcEQ3helO6oj1zU08z9XflXI53DRTIBKcLF7Atqr8pk5WJEoO0YahoTJZJ6NOQ1Sx1Up6K8vp/UrlUgpWRu8rmRVZcQG1026zs7tDfVd29QbkczmGKkMUiyWKRSkTyh7MNKcvhUg5SXRYJEXqihLTKDcLfK1lWrath3rEMNR+BhmY2+8TBoGudDab1d+Kl5TP5FrymdQ8BYxQW6KS7KWsooCcbPqSvJMUjwM9VL1zOf1MFkkkwUlKXCptMk45RxbT83y6sqFLVDab1QUTBxREkpJJwjblUbIoei/Z8icMfrCXarDTPanDyoIIlxvsPxIV1UqSZVDKl9Ino/hSoA0UoMGzFwR1fR8L1UjAkEsLSINnVSRPF0hiriRATW4koOkENVQS75sEsLookpmVVG/K3yRol9SM73s0Gk3lgSIpMinXcxUgaWqRcEykQd7LJASIjLQzGYZKs0i7fGbL5tQ0JSPX1gUUKfJ9BcK2LS0uS2JQ0unyXiRNGnFkbklNVQrQdiIYnqd2XOxxPldIK9+ed5t8SrpP0hsyOQVA0jiOo6Iuk+/3XZUKmZAiL02/4h1FZT1ffyMXl9WW7+UzfSqBTCxIwNYBx8k95PNSsaRquL29q3aqNlzVjScCmIxFpVval+KQQDsMk6KEI5zRdvTevvS2ysOPNKZNXom2JGMbqK8AoWCIgAQhmWwCjtjpBDCxlZnEXoaRapLMVc7LSvOwbvmWLcnag5L0eKnkyCt9CFEiQGKYEzsnYp1IVbpHQvrB5Ldqb8TjWomEGYlaa4wqbcOhn6qXgJ9IsGyQktYmkXDhb6rGuax6RWFeMhmhInJvSYXrc3XSR0HoQ5FExSxTpUdAUGcl4YyZbk9OibRIYbJYIoGSxkoWTzRHJEqur+ootY1YSmrJNcSUJFpj4UjrgSaopVXprg3x2iMqT2RKJUBWUTsJxcb4iY2Ri8nKycWTtPSdB4LIuXKOVip1JZMu0WSXinTJJODKS5rsJH5M7J6ArXlutY2SGhbplusnAItEWrr6Kjn6NKnkOToC3sAByNicjKOSMZiL2rNU+gaPwBHbOPhs8EigwXcDoZFzxD6LqbCstMwmhl0nJBIljb1hqPmibqerdqFQLKqY9t2+Mm0BQ8VYG/BkRa1kYtIBZJn6V64lDF5sk0xeMnIiOTIzCarFpshvJPgdSKqocUba1cOQdrNJv9+/7YTE9vmBPHXFpFAqUSwUtOnXE08p49f7RXhuIjm5fE7bDeQ+4sllTGI7B6Bqo0wmo5RIpE8WShZGNcM06fV6ahdlzPlCQZ2UKX1jqpKpR9EOMSmTiT3Z2mZrc0N5lqRxhSJIqLS1samyKN5InwsWRXox6dYRgyvqIPxNgJPB9Xpd2u2WJhKlM1oGt7WxofXDQr6gDStifOV3cp9arabSJnxvZ2dHVU3sh4AgNk0kqVKpMjI6rPcRNe52OonaR7IYHbVFQiGqlareX+iFqJ44CbmvLHS5PEShkFdHI70gYlcFUEkyFApF5ZlyLaE/whcVtGx+UDVK2jXFOou0yIpIQ4cQOVGpibFxKkMVGo06a2trWn+UicqKC01wxEhKi6X2mJkpYAlnksE0mw0c22J0dATf81helM0LQmzLOkCxJyL2kxMTmqWQ/JmQXOF7MsFsToISdAIiMdXasFa+ZZGEpMqRPCssptls0ut2laCOjI4qvxLOWCwWlVt1ez29piyM8EBZFAF0QHOq1RpyyG/k89HRUSYmJpR827cr36nLl5UVVROxXlleZv7WnF5cUtQSgkiFZW19TaVrqFxOeFocKWB2JnkYkMSiprhqEX8x5J12GiY5TE1NEHg+83NzOqkBeZV7iNQKE5+antbry8TX1taVY+Xz8kQTtNFF3ldrVWZmZ8nnCzqx3d2dZIt1DLv1uoKkff5jozQbLQVfqIpoiYAu5LtWG6ZSGboNmKio2Ff5fHR0TIWj1WozMTHO2Pg4ubxsvxmU2fSxLL6qghhUSQbubO8oaGIjBKxqpaL6noREGQr5vKqc2BEnlS5N5Yph1kqbGOqYXq+jsaUYaUnZCF9YW1ml77ral1UqFjUVJG59uFZjZHRMUysidbtbEsB31YYKYLv1ZNVLQ2UFN5cv6HuZnKiTpJMb9QadbkdVTqRIgK/XGwqg5LnkXgJosVTS96LSYpvFsUkcLRX64ZFhXVAZo4xJzlWSLZ5XOxAlWSZ8KY7IZmTzuKHGXUATaSsXi7o6YiMkRhwYffVQUu3OJgRSWLlMVDmQuG8pxnou7WZDrykqKb8VNRBvWy4VNWDvdUVN+qrmQ5WKAqaxZUPaQF0FTF4iPa1WU+2JhE7ZXJ5ev6tSo5lRKdK2W+os5DflUol2u6OHqJ/MQXik2DzxoiK5Yu8kwyK2W76TDp1qVWytpwDKb0TrxKGIjU56XAMJuCXjFJF1EuMnfER6w8RTCMsWoykEUrlYICFT6iGFVIo6ahE4IX9CJ8Qgi5SJHet12vo7yTzISokHEmmWtInYDrfbTxbCtnUSYpvE64mnlt+rOpimSlO321HeJOospkAkM/Fy4pnR64idUyOfzdLv9VUYZDFyElEEoUptwui13SThlbInqttVSS6VRKKTuFpUVb2v51EopjzMFbIq5WwhdppilvbrWO1NFCTxmHwudinxRpLDl5SjPErGUpulJbowIX+aiJQJiKeU+EwYdByREzshZNAXGpOEUEITNFhPY887MaaB77qJF85kVHpE2mVRBBwBRK4lCyFHwqeExsgmiyTVLlIjbF48raicSorUIFKCq+RW+XnCGRNKAln1ygnd1ihGY0x5llBKK9xB46sE2fr8iiQ21H6JdDuqdLQMYkb9LiWt2q4uZFP7MiRKSB5ZIIPR3WTa+y/SmzxNKSmRJ5xPJyk9WJGw6+Q3t+8hT5IK0gBaJi+TSld9QJIH5FI4lAbwgzENAvrkGQrp5AfBy93zSALvJHJICijaNGQlTxDVcUqBOn3Wo9jhpAMx5fkDT6MlIZGeNDRKtqqlD+FRA5UCmj4yV1ZIckC3n4uULFuaLtKnoSpVGEQGkp1VsOSSuijyeMA0ekhDs7sDeu3YELXRuDWRBpFksY9yH5FcWQxtG0/BkmEmsbCAmUQpg7AtabFPFkCOJJORNp4kuCp4g+hAH5s1yHYkvTt3AqP0qSn6o3RPUnKFFPE7X6TLcvvEwSML0jvq10nIoptD0ngyif/uGuDgEZ/awXxnNQfPObv7Gjr5dLGUsUvDgzSNpPZrcK90BLfBULojZuQuyR4syO2nhN71YLUE7L8Hc/B18oS6//X6n0bg/wW6N9HN0J3gTg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0724" name="Picture 4" descr="CMR College of Pharmacy updated... - CMR College of Pharmacy"/>
          <p:cNvPicPr>
            <a:picLocks noChangeAspect="1" noChangeArrowheads="1"/>
          </p:cNvPicPr>
          <p:nvPr/>
        </p:nvPicPr>
        <p:blipFill>
          <a:blip r:embed="rId2"/>
          <a:srcRect/>
          <a:stretch>
            <a:fillRect/>
          </a:stretch>
        </p:blipFill>
        <p:spPr bwMode="auto">
          <a:xfrm>
            <a:off x="381000" y="228600"/>
            <a:ext cx="1295400" cy="1143000"/>
          </a:xfrm>
          <a:prstGeom prst="rect">
            <a:avLst/>
          </a:prstGeom>
          <a:noFill/>
        </p:spPr>
      </p:pic>
      <p:sp>
        <p:nvSpPr>
          <p:cNvPr id="30726" name="AutoShape 6" descr="CMRCET HYDERABAD - 2021 Admission Process, Ranking, Reviews, Affilia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7B4A5375-354E-E6D3-F36B-800BFE85FB4B}"/>
              </a:ext>
            </a:extLst>
          </p:cNvPr>
          <p:cNvSpPr txBox="1"/>
          <p:nvPr/>
        </p:nvSpPr>
        <p:spPr>
          <a:xfrm>
            <a:off x="5458058" y="3072825"/>
            <a:ext cx="2909771" cy="584775"/>
          </a:xfrm>
          <a:prstGeom prst="rect">
            <a:avLst/>
          </a:prstGeom>
          <a:noFill/>
        </p:spPr>
        <p:txBody>
          <a:bodyPr wrap="none" rtlCol="0">
            <a:spAutoFit/>
          </a:bodyPr>
          <a:lstStyle/>
          <a:p>
            <a:r>
              <a:rPr lang="en-IN" sz="3200" b="1" dirty="0">
                <a:solidFill>
                  <a:schemeClr val="tx2">
                    <a:lumMod val="60000"/>
                    <a:lumOff val="40000"/>
                  </a:schemeClr>
                </a:solidFill>
                <a:latin typeface="Times New Roman" panose="02020603050405020304" pitchFamily="18" charset="0"/>
                <a:cs typeface="Times New Roman" panose="02020603050405020304" pitchFamily="18" charset="0"/>
              </a:rPr>
              <a:t>Batch No – B45</a:t>
            </a:r>
            <a:endParaRPr lang="en-IN" b="1"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7" name="CustomShape 1">
            <a:extLst>
              <a:ext uri="{FF2B5EF4-FFF2-40B4-BE49-F238E27FC236}">
                <a16:creationId xmlns:a16="http://schemas.microsoft.com/office/drawing/2014/main" id="{90D44D5B-2C1C-8C3B-A5BC-AFDFBD25B161}"/>
              </a:ext>
            </a:extLst>
          </p:cNvPr>
          <p:cNvSpPr/>
          <p:nvPr/>
        </p:nvSpPr>
        <p:spPr>
          <a:xfrm>
            <a:off x="381420" y="1550982"/>
            <a:ext cx="8381160" cy="75600"/>
          </a:xfrm>
          <a:prstGeom prst="rect">
            <a:avLst/>
          </a:prstGeom>
          <a:solidFill>
            <a:srgbClr val="7030A0"/>
          </a:solidFill>
          <a:ln w="25560">
            <a:solidFill>
              <a:srgbClr val="3A5F8B"/>
            </a:solidFill>
            <a:round/>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CustomShape 1"/>
          <p:cNvSpPr/>
          <p:nvPr/>
        </p:nvSpPr>
        <p:spPr>
          <a:xfrm>
            <a:off x="457200" y="1066680"/>
            <a:ext cx="8381160" cy="75600"/>
          </a:xfrm>
          <a:prstGeom prst="rect">
            <a:avLst/>
          </a:prstGeom>
          <a:solidFill>
            <a:srgbClr val="7030A0"/>
          </a:solidFill>
          <a:ln w="25560">
            <a:solidFill>
              <a:srgbClr val="3A5F8B"/>
            </a:solidFill>
            <a:round/>
          </a:ln>
        </p:spPr>
      </p:sp>
      <p:sp>
        <p:nvSpPr>
          <p:cNvPr id="44" name="CustomShape 2"/>
          <p:cNvSpPr/>
          <p:nvPr/>
        </p:nvSpPr>
        <p:spPr>
          <a:xfrm>
            <a:off x="457200" y="457200"/>
            <a:ext cx="8381160" cy="577440"/>
          </a:xfrm>
          <a:prstGeom prst="rect">
            <a:avLst/>
          </a:prstGeom>
        </p:spPr>
        <p:txBody>
          <a:bodyPr lIns="90000" tIns="45000" rIns="90000" bIns="45000"/>
          <a:lstStyle/>
          <a:p>
            <a:pPr>
              <a:lnSpc>
                <a:spcPct val="100000"/>
              </a:lnSpc>
            </a:pPr>
            <a:r>
              <a:rPr lang="en-IN" sz="3200" b="1" dirty="0">
                <a:solidFill>
                  <a:srgbClr val="C00000"/>
                </a:solidFill>
                <a:latin typeface="Times New Roman" panose="02020603050405020304" pitchFamily="18" charset="0"/>
                <a:cs typeface="Times New Roman" panose="02020603050405020304" pitchFamily="18" charset="0"/>
              </a:rPr>
              <a:t>Contents</a:t>
            </a:r>
            <a:endParaRPr dirty="0">
              <a:solidFill>
                <a:srgbClr val="C00000"/>
              </a:solidFill>
              <a:latin typeface="Times New Roman" panose="02020603050405020304" pitchFamily="18" charset="0"/>
              <a:cs typeface="Times New Roman" panose="02020603050405020304" pitchFamily="18" charset="0"/>
            </a:endParaRPr>
          </a:p>
        </p:txBody>
      </p:sp>
      <p:sp>
        <p:nvSpPr>
          <p:cNvPr id="45" name="CustomShape 3"/>
          <p:cNvSpPr/>
          <p:nvPr/>
        </p:nvSpPr>
        <p:spPr>
          <a:xfrm>
            <a:off x="381000" y="1218600"/>
            <a:ext cx="8458200" cy="4344000"/>
          </a:xfrm>
          <a:prstGeom prst="rect">
            <a:avLst/>
          </a:prstGeom>
        </p:spPr>
        <p:txBody>
          <a:bodyPr lIns="90000" tIns="45000" rIns="90000" bIns="45000"/>
          <a:lstStyle/>
          <a:p>
            <a:pPr>
              <a:buFont typeface="Arial" pitchFamily="34" charset="0"/>
              <a:buChar char="•"/>
            </a:pPr>
            <a:r>
              <a:rPr lang="en-IN" sz="2000" b="1" dirty="0">
                <a:solidFill>
                  <a:srgbClr val="000000"/>
                </a:solidFill>
                <a:latin typeface="Times New Roman" panose="02020603050405020304" pitchFamily="18" charset="0"/>
                <a:cs typeface="Times New Roman" panose="02020603050405020304" pitchFamily="18" charset="0"/>
              </a:rPr>
              <a:t> Introduction </a:t>
            </a:r>
          </a:p>
          <a:p>
            <a:pPr>
              <a:buFont typeface="Arial"/>
              <a:buChar char="•"/>
            </a:pPr>
            <a:r>
              <a:rPr lang="en-IN" sz="2000" b="1" dirty="0">
                <a:solidFill>
                  <a:srgbClr val="000000"/>
                </a:solidFill>
                <a:latin typeface="Times New Roman" panose="02020603050405020304" pitchFamily="18" charset="0"/>
                <a:cs typeface="Times New Roman" panose="02020603050405020304" pitchFamily="18" charset="0"/>
              </a:rPr>
              <a:t> Literature Review</a:t>
            </a:r>
          </a:p>
          <a:p>
            <a:pPr>
              <a:buFont typeface="Arial"/>
              <a:buChar char="•"/>
            </a:pPr>
            <a:r>
              <a:rPr lang="en-IN" sz="2000" b="1" dirty="0">
                <a:solidFill>
                  <a:srgbClr val="000000"/>
                </a:solidFill>
                <a:latin typeface="Times New Roman" panose="02020603050405020304" pitchFamily="18" charset="0"/>
                <a:cs typeface="Times New Roman" panose="02020603050405020304" pitchFamily="18" charset="0"/>
              </a:rPr>
              <a:t> Problem Definition</a:t>
            </a:r>
          </a:p>
          <a:p>
            <a:pPr>
              <a:buFont typeface="Arial" pitchFamily="34" charset="0"/>
              <a:buChar char="•"/>
            </a:pPr>
            <a:r>
              <a:rPr lang="en-IN" sz="2000" b="1" dirty="0">
                <a:solidFill>
                  <a:srgbClr val="000000"/>
                </a:solidFill>
                <a:latin typeface="Times New Roman" panose="02020603050405020304" pitchFamily="18" charset="0"/>
                <a:cs typeface="Times New Roman" panose="02020603050405020304" pitchFamily="18" charset="0"/>
              </a:rPr>
              <a:t> Proposed Solution</a:t>
            </a:r>
          </a:p>
          <a:p>
            <a:pPr>
              <a:buFont typeface="Arial" pitchFamily="34" charset="0"/>
              <a:buChar char="•"/>
            </a:pPr>
            <a:r>
              <a:rPr lang="en-IN" sz="2000" b="1" dirty="0">
                <a:solidFill>
                  <a:srgbClr val="000000"/>
                </a:solidFill>
                <a:latin typeface="Times New Roman" panose="02020603050405020304" pitchFamily="18" charset="0"/>
                <a:cs typeface="Times New Roman" panose="02020603050405020304" pitchFamily="18" charset="0"/>
              </a:rPr>
              <a:t> Conclusion</a:t>
            </a:r>
          </a:p>
          <a:p>
            <a:pPr>
              <a:buFont typeface="Arial" pitchFamily="34" charset="0"/>
              <a:buChar char="•"/>
            </a:pPr>
            <a:endParaRPr lang="en-IN" sz="2800" b="1" dirty="0">
              <a:solidFill>
                <a:srgbClr val="000000"/>
              </a:solidFill>
              <a:latin typeface="Times New Roman" panose="02020603050405020304" pitchFamily="18" charset="0"/>
              <a:cs typeface="Times New Roman" panose="02020603050405020304" pitchFamily="18" charset="0"/>
            </a:endParaRPr>
          </a:p>
          <a:p>
            <a:pPr>
              <a:lnSpc>
                <a:spcPct val="150000"/>
              </a:lnSpc>
            </a:pPr>
            <a:endParaRPr lang="en-IN" sz="2800" b="1"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IN" sz="2800" b="1" dirty="0">
                <a:solidFill>
                  <a:srgbClr val="000000"/>
                </a:solidFill>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pPr>
              <a:lnSpc>
                <a:spcPct val="100000"/>
              </a:lnSpc>
            </a:pPr>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665018" y="1027320"/>
            <a:ext cx="8076600" cy="75600"/>
          </a:xfrm>
          <a:prstGeom prst="rect">
            <a:avLst/>
          </a:prstGeom>
          <a:solidFill>
            <a:srgbClr val="7030A0"/>
          </a:solidFill>
          <a:ln w="25560">
            <a:solidFill>
              <a:srgbClr val="3A5F8B"/>
            </a:solidFill>
            <a:round/>
          </a:ln>
        </p:spPr>
      </p:sp>
      <p:sp>
        <p:nvSpPr>
          <p:cNvPr id="83" name="CustomShape 2"/>
          <p:cNvSpPr/>
          <p:nvPr/>
        </p:nvSpPr>
        <p:spPr>
          <a:xfrm>
            <a:off x="419220" y="30480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Times New Roman" panose="02020603050405020304" pitchFamily="18" charset="0"/>
                <a:cs typeface="Times New Roman" panose="02020603050405020304" pitchFamily="18" charset="0"/>
              </a:rPr>
              <a:t>Introduction </a:t>
            </a:r>
            <a:endParaRPr dirty="0">
              <a:latin typeface="Times New Roman" panose="02020603050405020304" pitchFamily="18" charset="0"/>
              <a:cs typeface="Times New Roman" panose="02020603050405020304" pitchFamily="18"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
        <p:nvSpPr>
          <p:cNvPr id="3" name="TextBox 2">
            <a:extLst>
              <a:ext uri="{FF2B5EF4-FFF2-40B4-BE49-F238E27FC236}">
                <a16:creationId xmlns:a16="http://schemas.microsoft.com/office/drawing/2014/main" id="{A07FE62A-94FB-60FD-0CDF-3E3ED15C7B1D}"/>
              </a:ext>
            </a:extLst>
          </p:cNvPr>
          <p:cNvSpPr txBox="1"/>
          <p:nvPr/>
        </p:nvSpPr>
        <p:spPr>
          <a:xfrm>
            <a:off x="827509" y="1371600"/>
            <a:ext cx="7744271" cy="378045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Poetry is rich in </a:t>
            </a:r>
            <a:r>
              <a:rPr lang="en-IN" b="1" dirty="0">
                <a:latin typeface="Times New Roman" panose="02020603050405020304" pitchFamily="18" charset="0"/>
                <a:cs typeface="Times New Roman" panose="02020603050405020304" pitchFamily="18" charset="0"/>
              </a:rPr>
              <a:t>structure, style, rhythm, and meaning</a:t>
            </a:r>
            <a:r>
              <a:rPr lang="en-IN" dirty="0">
                <a:latin typeface="Times New Roman" panose="02020603050405020304" pitchFamily="18" charset="0"/>
                <a:cs typeface="Times New Roman" panose="02020603050405020304" pitchFamily="18" charset="0"/>
              </a:rPr>
              <a:t>, making it complex for automated understanding.</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Humans memorize and interpret poems through </a:t>
            </a:r>
            <a:r>
              <a:rPr lang="en-IN" b="1" dirty="0">
                <a:latin typeface="Times New Roman" panose="02020603050405020304" pitchFamily="18" charset="0"/>
                <a:cs typeface="Times New Roman" panose="02020603050405020304" pitchFamily="18" charset="0"/>
              </a:rPr>
              <a:t>repeated reading (rote learning)</a:t>
            </a:r>
            <a:r>
              <a:rPr lang="en-IN" dirty="0">
                <a:latin typeface="Times New Roman" panose="02020603050405020304" pitchFamily="18" charset="0"/>
                <a:cs typeface="Times New Roman" panose="02020603050405020304" pitchFamily="18" charset="0"/>
              </a:rPr>
              <a:t>, internalizing patterns and nuances.</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Deep learning, particularly </a:t>
            </a:r>
            <a:r>
              <a:rPr lang="en-IN" b="1" dirty="0">
                <a:latin typeface="Times New Roman" panose="02020603050405020304" pitchFamily="18" charset="0"/>
                <a:cs typeface="Times New Roman" panose="02020603050405020304" pitchFamily="18" charset="0"/>
              </a:rPr>
              <a:t>CNNs</a:t>
            </a:r>
            <a:r>
              <a:rPr lang="en-IN" dirty="0">
                <a:latin typeface="Times New Roman" panose="02020603050405020304" pitchFamily="18" charset="0"/>
                <a:cs typeface="Times New Roman" panose="02020603050405020304" pitchFamily="18" charset="0"/>
              </a:rPr>
              <a:t>, can mimic this process by detecting both </a:t>
            </a:r>
            <a:r>
              <a:rPr lang="en-IN" b="1" dirty="0">
                <a:latin typeface="Times New Roman" panose="02020603050405020304" pitchFamily="18" charset="0"/>
                <a:cs typeface="Times New Roman" panose="02020603050405020304" pitchFamily="18" charset="0"/>
              </a:rPr>
              <a:t>local patterns</a:t>
            </a:r>
            <a:r>
              <a:rPr lang="en-IN" dirty="0">
                <a:latin typeface="Times New Roman" panose="02020603050405020304" pitchFamily="18" charset="0"/>
                <a:cs typeface="Times New Roman" panose="02020603050405020304" pitchFamily="18" charset="0"/>
              </a:rPr>
              <a:t> (like rhyme and repetition) and </a:t>
            </a:r>
            <a:r>
              <a:rPr lang="en-IN" b="1" dirty="0">
                <a:latin typeface="Times New Roman" panose="02020603050405020304" pitchFamily="18" charset="0"/>
                <a:cs typeface="Times New Roman" panose="02020603050405020304" pitchFamily="18" charset="0"/>
              </a:rPr>
              <a:t>global abstractions</a:t>
            </a:r>
            <a:r>
              <a:rPr lang="en-IN" dirty="0">
                <a:latin typeface="Times New Roman" panose="02020603050405020304" pitchFamily="18" charset="0"/>
                <a:cs typeface="Times New Roman" panose="02020603050405020304" pitchFamily="18" charset="0"/>
              </a:rPr>
              <a:t> (like style and rhythm).</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project explores how AI can </a:t>
            </a:r>
            <a:r>
              <a:rPr lang="en-IN" b="1" dirty="0">
                <a:latin typeface="Times New Roman" panose="02020603050405020304" pitchFamily="18" charset="0"/>
                <a:cs typeface="Times New Roman" panose="02020603050405020304" pitchFamily="18" charset="0"/>
              </a:rPr>
              <a:t>learn, recognize, and interpret poems</a:t>
            </a:r>
            <a:r>
              <a:rPr lang="en-IN" dirty="0">
                <a:latin typeface="Times New Roman" panose="02020603050405020304" pitchFamily="18" charset="0"/>
                <a:cs typeface="Times New Roman" panose="02020603050405020304" pitchFamily="18" charset="0"/>
              </a:rPr>
              <a:t> in a manner inspired by human memory and learning.</a:t>
            </a:r>
          </a:p>
        </p:txBody>
      </p:sp>
      <p:sp>
        <p:nvSpPr>
          <p:cNvPr id="2" name="Rectangle 1">
            <a:extLst>
              <a:ext uri="{FF2B5EF4-FFF2-40B4-BE49-F238E27FC236}">
                <a16:creationId xmlns:a16="http://schemas.microsoft.com/office/drawing/2014/main" id="{40EA3E6A-AEE6-4E91-24C1-2DA2B0E8E2E1}"/>
              </a:ext>
            </a:extLst>
          </p:cNvPr>
          <p:cNvSpPr/>
          <p:nvPr/>
        </p:nvSpPr>
        <p:spPr>
          <a:xfrm>
            <a:off x="4588726" y="5943480"/>
            <a:ext cx="1735873" cy="4573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A5021-1BFE-3239-981C-F981C9241195}"/>
            </a:ext>
          </a:extLst>
        </p:cNvPr>
        <p:cNvGrpSpPr/>
        <p:nvPr/>
      </p:nvGrpSpPr>
      <p:grpSpPr>
        <a:xfrm>
          <a:off x="0" y="0"/>
          <a:ext cx="0" cy="0"/>
          <a:chOff x="0" y="0"/>
          <a:chExt cx="0" cy="0"/>
        </a:xfrm>
      </p:grpSpPr>
      <p:sp>
        <p:nvSpPr>
          <p:cNvPr id="82" name="CustomShape 1">
            <a:extLst>
              <a:ext uri="{FF2B5EF4-FFF2-40B4-BE49-F238E27FC236}">
                <a16:creationId xmlns:a16="http://schemas.microsoft.com/office/drawing/2014/main" id="{C2FDC2BD-EF92-C918-ADE7-5C36E1EB1064}"/>
              </a:ext>
            </a:extLst>
          </p:cNvPr>
          <p:cNvSpPr/>
          <p:nvPr/>
        </p:nvSpPr>
        <p:spPr>
          <a:xfrm>
            <a:off x="665018" y="1027320"/>
            <a:ext cx="8076600" cy="75600"/>
          </a:xfrm>
          <a:prstGeom prst="rect">
            <a:avLst/>
          </a:prstGeom>
          <a:solidFill>
            <a:srgbClr val="7030A0"/>
          </a:solidFill>
          <a:ln w="25560">
            <a:solidFill>
              <a:srgbClr val="3A5F8B"/>
            </a:solidFill>
            <a:round/>
          </a:ln>
        </p:spPr>
      </p:sp>
      <p:sp>
        <p:nvSpPr>
          <p:cNvPr id="83" name="CustomShape 2">
            <a:extLst>
              <a:ext uri="{FF2B5EF4-FFF2-40B4-BE49-F238E27FC236}">
                <a16:creationId xmlns:a16="http://schemas.microsoft.com/office/drawing/2014/main" id="{6AEF056C-1316-61F5-E069-68B1CA91592C}"/>
              </a:ext>
            </a:extLst>
          </p:cNvPr>
          <p:cNvSpPr/>
          <p:nvPr/>
        </p:nvSpPr>
        <p:spPr>
          <a:xfrm>
            <a:off x="419220" y="30480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Times New Roman" panose="02020603050405020304" pitchFamily="18" charset="0"/>
                <a:cs typeface="Times New Roman" panose="02020603050405020304" pitchFamily="18" charset="0"/>
              </a:rPr>
              <a:t>Literature Survey - 1 </a:t>
            </a:r>
            <a:endParaRPr dirty="0">
              <a:latin typeface="Times New Roman" panose="02020603050405020304" pitchFamily="18" charset="0"/>
              <a:cs typeface="Times New Roman" panose="02020603050405020304" pitchFamily="18" charset="0"/>
            </a:endParaRPr>
          </a:p>
        </p:txBody>
      </p:sp>
      <p:sp>
        <p:nvSpPr>
          <p:cNvPr id="84" name="CustomShape 3">
            <a:extLst>
              <a:ext uri="{FF2B5EF4-FFF2-40B4-BE49-F238E27FC236}">
                <a16:creationId xmlns:a16="http://schemas.microsoft.com/office/drawing/2014/main" id="{C1B2158B-447D-9B3B-A1C5-CC64B21C551D}"/>
              </a:ext>
            </a:extLst>
          </p:cNvPr>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
        <p:nvSpPr>
          <p:cNvPr id="3" name="TextBox 2">
            <a:extLst>
              <a:ext uri="{FF2B5EF4-FFF2-40B4-BE49-F238E27FC236}">
                <a16:creationId xmlns:a16="http://schemas.microsoft.com/office/drawing/2014/main" id="{0D1B2F2D-AF68-CD11-4A45-EAEAC0E55A9A}"/>
              </a:ext>
            </a:extLst>
          </p:cNvPr>
          <p:cNvSpPr txBox="1"/>
          <p:nvPr/>
        </p:nvSpPr>
        <p:spPr>
          <a:xfrm>
            <a:off x="792550" y="1102920"/>
            <a:ext cx="7744271" cy="1750736"/>
          </a:xfrm>
          <a:prstGeom prst="rect">
            <a:avLst/>
          </a:prstGeom>
          <a:noFill/>
        </p:spPr>
        <p:txBody>
          <a:bodyPr wrap="square">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Authors: </a:t>
            </a:r>
            <a:r>
              <a:rPr lang="en-IN" dirty="0">
                <a:latin typeface="Times New Roman" panose="02020603050405020304" pitchFamily="18" charset="0"/>
                <a:cs typeface="Times New Roman" panose="02020603050405020304" pitchFamily="18" charset="0"/>
              </a:rPr>
              <a:t>Rui Yan, Cheng-</a:t>
            </a:r>
            <a:r>
              <a:rPr lang="en-IN" dirty="0" err="1">
                <a:latin typeface="Times New Roman" panose="02020603050405020304" pitchFamily="18" charset="0"/>
                <a:cs typeface="Times New Roman" panose="02020603050405020304" pitchFamily="18" charset="0"/>
              </a:rPr>
              <a:t>Te</a:t>
            </a:r>
            <a:r>
              <a:rPr lang="en-IN" dirty="0">
                <a:latin typeface="Times New Roman" panose="02020603050405020304" pitchFamily="18" charset="0"/>
                <a:cs typeface="Times New Roman" panose="02020603050405020304" pitchFamily="18" charset="0"/>
              </a:rPr>
              <a:t> Li, Xiaohua Hu, Ming Zhang, Yalong Guo</a:t>
            </a:r>
          </a:p>
          <a:p>
            <a:pPr algn="just">
              <a:lnSpc>
                <a:spcPct val="150000"/>
              </a:lnSpc>
            </a:pPr>
            <a:r>
              <a:rPr lang="en-IN" b="1" dirty="0">
                <a:latin typeface="Times New Roman" panose="02020603050405020304" pitchFamily="18" charset="0"/>
                <a:cs typeface="Times New Roman" panose="02020603050405020304" pitchFamily="18" charset="0"/>
              </a:rPr>
              <a:t>Journal / Conference : </a:t>
            </a:r>
            <a:r>
              <a:rPr lang="en-IN" dirty="0">
                <a:latin typeface="Times New Roman" panose="02020603050405020304" pitchFamily="18" charset="0"/>
                <a:cs typeface="Times New Roman" panose="02020603050405020304" pitchFamily="18" charset="0"/>
              </a:rPr>
              <a:t>Proceedings of the 25th International Joint Conference on Artificial Intelligence (IJCAI 2016)</a:t>
            </a:r>
          </a:p>
          <a:p>
            <a:pPr algn="just">
              <a:lnSpc>
                <a:spcPct val="150000"/>
              </a:lnSpc>
            </a:pPr>
            <a:r>
              <a:rPr lang="en-IN" b="1" dirty="0">
                <a:latin typeface="Times New Roman" panose="02020603050405020304" pitchFamily="18" charset="0"/>
                <a:cs typeface="Times New Roman" panose="02020603050405020304" pitchFamily="18" charset="0"/>
              </a:rPr>
              <a:t>Publisher / Year: </a:t>
            </a:r>
            <a:r>
              <a:rPr lang="en-IN" dirty="0">
                <a:latin typeface="Times New Roman" panose="02020603050405020304" pitchFamily="18" charset="0"/>
                <a:cs typeface="Times New Roman" panose="02020603050405020304" pitchFamily="18" charset="0"/>
              </a:rPr>
              <a:t>AAAI Press / 2016</a:t>
            </a:r>
          </a:p>
        </p:txBody>
      </p:sp>
      <p:sp>
        <p:nvSpPr>
          <p:cNvPr id="2" name="Rectangle 1">
            <a:extLst>
              <a:ext uri="{FF2B5EF4-FFF2-40B4-BE49-F238E27FC236}">
                <a16:creationId xmlns:a16="http://schemas.microsoft.com/office/drawing/2014/main" id="{9CEB138F-A723-0FCD-2218-9527354CAACE}"/>
              </a:ext>
            </a:extLst>
          </p:cNvPr>
          <p:cNvSpPr/>
          <p:nvPr/>
        </p:nvSpPr>
        <p:spPr>
          <a:xfrm>
            <a:off x="4588726" y="5943480"/>
            <a:ext cx="1735873" cy="4573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solidFill>
                <a:schemeClr val="bg1"/>
              </a:solidFill>
            </a:endParaRPr>
          </a:p>
        </p:txBody>
      </p:sp>
      <p:pic>
        <p:nvPicPr>
          <p:cNvPr id="4" name="Picture 3">
            <a:extLst>
              <a:ext uri="{FF2B5EF4-FFF2-40B4-BE49-F238E27FC236}">
                <a16:creationId xmlns:a16="http://schemas.microsoft.com/office/drawing/2014/main" id="{3BF6F318-B8DE-B66F-39FE-9308F75B09BF}"/>
              </a:ext>
            </a:extLst>
          </p:cNvPr>
          <p:cNvPicPr>
            <a:picLocks noChangeAspect="1"/>
          </p:cNvPicPr>
          <p:nvPr/>
        </p:nvPicPr>
        <p:blipFill>
          <a:blip r:embed="rId3"/>
          <a:stretch>
            <a:fillRect/>
          </a:stretch>
        </p:blipFill>
        <p:spPr>
          <a:xfrm>
            <a:off x="1484450" y="3046016"/>
            <a:ext cx="6141650" cy="3222346"/>
          </a:xfrm>
          <a:prstGeom prst="rect">
            <a:avLst/>
          </a:prstGeom>
        </p:spPr>
      </p:pic>
    </p:spTree>
    <p:extLst>
      <p:ext uri="{BB962C8B-B14F-4D97-AF65-F5344CB8AC3E}">
        <p14:creationId xmlns:p14="http://schemas.microsoft.com/office/powerpoint/2010/main" val="964796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C7923-93A3-352F-5FA9-A70B8F2D5C90}"/>
            </a:ext>
          </a:extLst>
        </p:cNvPr>
        <p:cNvGrpSpPr/>
        <p:nvPr/>
      </p:nvGrpSpPr>
      <p:grpSpPr>
        <a:xfrm>
          <a:off x="0" y="0"/>
          <a:ext cx="0" cy="0"/>
          <a:chOff x="0" y="0"/>
          <a:chExt cx="0" cy="0"/>
        </a:xfrm>
      </p:grpSpPr>
      <p:sp>
        <p:nvSpPr>
          <p:cNvPr id="82" name="CustomShape 1">
            <a:extLst>
              <a:ext uri="{FF2B5EF4-FFF2-40B4-BE49-F238E27FC236}">
                <a16:creationId xmlns:a16="http://schemas.microsoft.com/office/drawing/2014/main" id="{690CF2B8-23AF-0CE1-F4B8-07731AD7392A}"/>
              </a:ext>
            </a:extLst>
          </p:cNvPr>
          <p:cNvSpPr/>
          <p:nvPr/>
        </p:nvSpPr>
        <p:spPr>
          <a:xfrm>
            <a:off x="665018" y="1027320"/>
            <a:ext cx="8076600" cy="75600"/>
          </a:xfrm>
          <a:prstGeom prst="rect">
            <a:avLst/>
          </a:prstGeom>
          <a:solidFill>
            <a:srgbClr val="7030A0"/>
          </a:solidFill>
          <a:ln w="25560">
            <a:solidFill>
              <a:srgbClr val="3A5F8B"/>
            </a:solidFill>
            <a:round/>
          </a:ln>
        </p:spPr>
      </p:sp>
      <p:sp>
        <p:nvSpPr>
          <p:cNvPr id="83" name="CustomShape 2">
            <a:extLst>
              <a:ext uri="{FF2B5EF4-FFF2-40B4-BE49-F238E27FC236}">
                <a16:creationId xmlns:a16="http://schemas.microsoft.com/office/drawing/2014/main" id="{295959E8-7144-9952-B4B1-B93540326C3A}"/>
              </a:ext>
            </a:extLst>
          </p:cNvPr>
          <p:cNvSpPr/>
          <p:nvPr/>
        </p:nvSpPr>
        <p:spPr>
          <a:xfrm>
            <a:off x="419220" y="15408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Times New Roman" panose="02020603050405020304" pitchFamily="18" charset="0"/>
                <a:cs typeface="Times New Roman" panose="02020603050405020304" pitchFamily="18" charset="0"/>
              </a:rPr>
              <a:t>Literature Survey - 1 </a:t>
            </a:r>
            <a:endParaRPr dirty="0">
              <a:latin typeface="Times New Roman" panose="02020603050405020304" pitchFamily="18" charset="0"/>
              <a:cs typeface="Times New Roman" panose="02020603050405020304" pitchFamily="18" charset="0"/>
            </a:endParaRPr>
          </a:p>
        </p:txBody>
      </p:sp>
      <p:sp>
        <p:nvSpPr>
          <p:cNvPr id="84" name="CustomShape 3">
            <a:extLst>
              <a:ext uri="{FF2B5EF4-FFF2-40B4-BE49-F238E27FC236}">
                <a16:creationId xmlns:a16="http://schemas.microsoft.com/office/drawing/2014/main" id="{850C47A2-3B20-3557-7A06-5D2E1EFB5BE5}"/>
              </a:ext>
            </a:extLst>
          </p:cNvPr>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
        <p:nvSpPr>
          <p:cNvPr id="3" name="TextBox 2">
            <a:extLst>
              <a:ext uri="{FF2B5EF4-FFF2-40B4-BE49-F238E27FC236}">
                <a16:creationId xmlns:a16="http://schemas.microsoft.com/office/drawing/2014/main" id="{56D9D973-88D8-3DA3-5600-819F4C63F3CB}"/>
              </a:ext>
            </a:extLst>
          </p:cNvPr>
          <p:cNvSpPr txBox="1"/>
          <p:nvPr/>
        </p:nvSpPr>
        <p:spPr>
          <a:xfrm>
            <a:off x="802700" y="1027320"/>
            <a:ext cx="7744271" cy="5859553"/>
          </a:xfrm>
          <a:prstGeom prst="rect">
            <a:avLst/>
          </a:prstGeom>
          <a:noFill/>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Summary : </a:t>
            </a:r>
          </a:p>
          <a:p>
            <a:pPr marL="342900" indent="-342900" algn="just">
              <a:lnSpc>
                <a:spcPct val="150000"/>
              </a:lnSpc>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iPoet</a:t>
            </a:r>
            <a:r>
              <a:rPr lang="en-IN" dirty="0">
                <a:latin typeface="Times New Roman" panose="02020603050405020304" pitchFamily="18" charset="0"/>
                <a:cs typeface="Times New Roman" panose="02020603050405020304" pitchFamily="18" charset="0"/>
              </a:rPr>
              <a:t> is a </a:t>
            </a:r>
            <a:r>
              <a:rPr lang="en-IN" b="1" dirty="0">
                <a:latin typeface="Times New Roman" panose="02020603050405020304" pitchFamily="18" charset="0"/>
                <a:cs typeface="Times New Roman" panose="02020603050405020304" pitchFamily="18" charset="0"/>
              </a:rPr>
              <a:t>deep learning-based poetry generator</a:t>
            </a:r>
            <a:r>
              <a:rPr lang="en-IN" dirty="0">
                <a:latin typeface="Times New Roman" panose="02020603050405020304" pitchFamily="18" charset="0"/>
                <a:cs typeface="Times New Roman" panose="02020603050405020304" pitchFamily="18" charset="0"/>
              </a:rPr>
              <a:t> for </a:t>
            </a:r>
            <a:r>
              <a:rPr lang="en-IN" b="1" dirty="0">
                <a:latin typeface="Times New Roman" panose="02020603050405020304" pitchFamily="18" charset="0"/>
                <a:cs typeface="Times New Roman" panose="02020603050405020304" pitchFamily="18" charset="0"/>
              </a:rPr>
              <a:t>Chinese classical poems</a:t>
            </a:r>
            <a:r>
              <a:rPr lang="en-IN"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Takes </a:t>
            </a:r>
            <a:r>
              <a:rPr lang="en-IN" b="1" dirty="0">
                <a:latin typeface="Times New Roman" panose="02020603050405020304" pitchFamily="18" charset="0"/>
                <a:cs typeface="Times New Roman" panose="02020603050405020304" pitchFamily="18" charset="0"/>
              </a:rPr>
              <a:t>user-provided keywords or intent</a:t>
            </a:r>
            <a:r>
              <a:rPr lang="en-IN" dirty="0">
                <a:latin typeface="Times New Roman" panose="02020603050405020304" pitchFamily="18" charset="0"/>
                <a:cs typeface="Times New Roman" panose="02020603050405020304" pitchFamily="18" charset="0"/>
              </a:rPr>
              <a:t> as input to guide poem generation.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a </a:t>
            </a:r>
            <a:r>
              <a:rPr lang="en-IN" b="1" dirty="0">
                <a:latin typeface="Times New Roman" panose="02020603050405020304" pitchFamily="18" charset="0"/>
                <a:cs typeface="Times New Roman" panose="02020603050405020304" pitchFamily="18" charset="0"/>
              </a:rPr>
              <a:t>hierarchical RNN architecture</a:t>
            </a:r>
            <a:r>
              <a:rPr lang="en-IN"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Line-level RNN</a:t>
            </a:r>
            <a:r>
              <a:rPr lang="en-IN" dirty="0">
                <a:latin typeface="Times New Roman" panose="02020603050405020304" pitchFamily="18" charset="0"/>
                <a:cs typeface="Times New Roman" panose="02020603050405020304" pitchFamily="18" charset="0"/>
              </a:rPr>
              <a:t> plans overall poem structure.</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Character-level RNN</a:t>
            </a:r>
            <a:r>
              <a:rPr lang="en-IN" dirty="0">
                <a:latin typeface="Times New Roman" panose="02020603050405020304" pitchFamily="18" charset="0"/>
                <a:cs typeface="Times New Roman" panose="02020603050405020304" pitchFamily="18" charset="0"/>
              </a:rPr>
              <a:t> generates each line word-by-word.</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Introduces an </a:t>
            </a:r>
            <a:r>
              <a:rPr lang="en-IN" b="1" dirty="0">
                <a:latin typeface="Times New Roman" panose="02020603050405020304" pitchFamily="18" charset="0"/>
                <a:cs typeface="Times New Roman" panose="02020603050405020304" pitchFamily="18" charset="0"/>
              </a:rPr>
              <a:t>iterative “polishing” mechanism</a:t>
            </a:r>
            <a:r>
              <a:rPr lang="en-IN" dirty="0">
                <a:latin typeface="Times New Roman" panose="02020603050405020304" pitchFamily="18" charset="0"/>
                <a:cs typeface="Times New Roman" panose="02020603050405020304" pitchFamily="18" charset="0"/>
              </a:rPr>
              <a:t> to refine drafts over multiple passes.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Mimics how </a:t>
            </a:r>
            <a:r>
              <a:rPr lang="en-IN" b="1" dirty="0">
                <a:latin typeface="Times New Roman" panose="02020603050405020304" pitchFamily="18" charset="0"/>
                <a:cs typeface="Times New Roman" panose="02020603050405020304" pitchFamily="18" charset="0"/>
              </a:rPr>
              <a:t>human poets revise</a:t>
            </a:r>
            <a:r>
              <a:rPr lang="en-IN" dirty="0">
                <a:latin typeface="Times New Roman" panose="02020603050405020304" pitchFamily="18" charset="0"/>
                <a:cs typeface="Times New Roman" panose="02020603050405020304" pitchFamily="18" charset="0"/>
              </a:rPr>
              <a:t> to improve </a:t>
            </a:r>
            <a:r>
              <a:rPr lang="en-IN" b="1" dirty="0">
                <a:latin typeface="Times New Roman" panose="02020603050405020304" pitchFamily="18" charset="0"/>
                <a:cs typeface="Times New Roman" panose="02020603050405020304" pitchFamily="18" charset="0"/>
              </a:rPr>
              <a:t>fluency, coherence, and thematic consistency</a:t>
            </a:r>
            <a:r>
              <a:rPr lang="en-IN"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Trained on a </a:t>
            </a:r>
            <a:r>
              <a:rPr lang="en-IN" b="1" dirty="0">
                <a:latin typeface="Times New Roman" panose="02020603050405020304" pitchFamily="18" charset="0"/>
                <a:cs typeface="Times New Roman" panose="02020603050405020304" pitchFamily="18" charset="0"/>
              </a:rPr>
              <a:t>large corpus of Tang and Song dynasty poems</a:t>
            </a:r>
            <a:r>
              <a:rPr lang="en-IN"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Achieved superior performance in </a:t>
            </a:r>
            <a:r>
              <a:rPr lang="en-IN" b="1" dirty="0">
                <a:latin typeface="Times New Roman" panose="02020603050405020304" pitchFamily="18" charset="0"/>
                <a:cs typeface="Times New Roman" panose="02020603050405020304" pitchFamily="18" charset="0"/>
              </a:rPr>
              <a:t>BLEU, perplexity</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human evaluations</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1129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9A1A8-B327-FDC0-17CA-86DEAFF6BB21}"/>
            </a:ext>
          </a:extLst>
        </p:cNvPr>
        <p:cNvGrpSpPr/>
        <p:nvPr/>
      </p:nvGrpSpPr>
      <p:grpSpPr>
        <a:xfrm>
          <a:off x="0" y="0"/>
          <a:ext cx="0" cy="0"/>
          <a:chOff x="0" y="0"/>
          <a:chExt cx="0" cy="0"/>
        </a:xfrm>
      </p:grpSpPr>
      <p:sp>
        <p:nvSpPr>
          <p:cNvPr id="82" name="CustomShape 1">
            <a:extLst>
              <a:ext uri="{FF2B5EF4-FFF2-40B4-BE49-F238E27FC236}">
                <a16:creationId xmlns:a16="http://schemas.microsoft.com/office/drawing/2014/main" id="{6620750C-326E-924B-30DA-9F13E68713A6}"/>
              </a:ext>
            </a:extLst>
          </p:cNvPr>
          <p:cNvSpPr/>
          <p:nvPr/>
        </p:nvSpPr>
        <p:spPr>
          <a:xfrm>
            <a:off x="665018" y="1027320"/>
            <a:ext cx="8076600" cy="75600"/>
          </a:xfrm>
          <a:prstGeom prst="rect">
            <a:avLst/>
          </a:prstGeom>
          <a:solidFill>
            <a:srgbClr val="7030A0"/>
          </a:solidFill>
          <a:ln w="25560">
            <a:solidFill>
              <a:srgbClr val="3A5F8B"/>
            </a:solidFill>
            <a:round/>
          </a:ln>
        </p:spPr>
      </p:sp>
      <p:sp>
        <p:nvSpPr>
          <p:cNvPr id="83" name="CustomShape 2">
            <a:extLst>
              <a:ext uri="{FF2B5EF4-FFF2-40B4-BE49-F238E27FC236}">
                <a16:creationId xmlns:a16="http://schemas.microsoft.com/office/drawing/2014/main" id="{EB26C54A-1865-CE09-4803-226BF119F08B}"/>
              </a:ext>
            </a:extLst>
          </p:cNvPr>
          <p:cNvSpPr/>
          <p:nvPr/>
        </p:nvSpPr>
        <p:spPr>
          <a:xfrm>
            <a:off x="419220" y="30480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Times New Roman" panose="02020603050405020304" pitchFamily="18" charset="0"/>
                <a:cs typeface="Times New Roman" panose="02020603050405020304" pitchFamily="18" charset="0"/>
              </a:rPr>
              <a:t>Literature Survey - 2 </a:t>
            </a:r>
            <a:endParaRPr dirty="0">
              <a:latin typeface="Times New Roman" panose="02020603050405020304" pitchFamily="18" charset="0"/>
              <a:cs typeface="Times New Roman" panose="02020603050405020304" pitchFamily="18" charset="0"/>
            </a:endParaRPr>
          </a:p>
        </p:txBody>
      </p:sp>
      <p:sp>
        <p:nvSpPr>
          <p:cNvPr id="84" name="CustomShape 3">
            <a:extLst>
              <a:ext uri="{FF2B5EF4-FFF2-40B4-BE49-F238E27FC236}">
                <a16:creationId xmlns:a16="http://schemas.microsoft.com/office/drawing/2014/main" id="{003DF224-3AF8-27AD-D007-107FEFA4BAF4}"/>
              </a:ext>
            </a:extLst>
          </p:cNvPr>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
        <p:nvSpPr>
          <p:cNvPr id="3" name="TextBox 2">
            <a:extLst>
              <a:ext uri="{FF2B5EF4-FFF2-40B4-BE49-F238E27FC236}">
                <a16:creationId xmlns:a16="http://schemas.microsoft.com/office/drawing/2014/main" id="{6555F7CD-0B08-7B5F-5FD1-FCDF251A5E66}"/>
              </a:ext>
            </a:extLst>
          </p:cNvPr>
          <p:cNvSpPr txBox="1"/>
          <p:nvPr/>
        </p:nvSpPr>
        <p:spPr>
          <a:xfrm>
            <a:off x="792550" y="1102920"/>
            <a:ext cx="7744271" cy="2120068"/>
          </a:xfrm>
          <a:prstGeom prst="rect">
            <a:avLst/>
          </a:prstGeom>
          <a:noFill/>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POEM</a:t>
            </a:r>
            <a:r>
              <a:rPr lang="en-IN" dirty="0">
                <a:latin typeface="Times New Roman" panose="02020603050405020304" pitchFamily="18" charset="0"/>
                <a:cs typeface="Times New Roman" panose="02020603050405020304" pitchFamily="18" charset="0"/>
              </a:rPr>
              <a:t>: Deep Learning-based Poetry Generation Given Visual Input</a:t>
            </a:r>
          </a:p>
          <a:p>
            <a:pPr algn="just">
              <a:lnSpc>
                <a:spcPct val="150000"/>
              </a:lnSpc>
            </a:pPr>
            <a:r>
              <a:rPr lang="en-IN" b="1" dirty="0">
                <a:latin typeface="Times New Roman" panose="02020603050405020304" pitchFamily="18" charset="0"/>
                <a:cs typeface="Times New Roman" panose="02020603050405020304" pitchFamily="18" charset="0"/>
              </a:rPr>
              <a:t>Authors: </a:t>
            </a:r>
            <a:r>
              <a:rPr lang="en-IN" dirty="0">
                <a:latin typeface="Times New Roman" panose="02020603050405020304" pitchFamily="18" charset="0"/>
                <a:cs typeface="Times New Roman" panose="02020603050405020304" pitchFamily="18" charset="0"/>
              </a:rPr>
              <a:t>Malte Loller-Andersen and Björn </a:t>
            </a:r>
            <a:r>
              <a:rPr lang="en-IN" dirty="0" err="1">
                <a:latin typeface="Times New Roman" panose="02020603050405020304" pitchFamily="18" charset="0"/>
                <a:cs typeface="Times New Roman" panose="02020603050405020304" pitchFamily="18" charset="0"/>
              </a:rPr>
              <a:t>Gambäck</a:t>
            </a: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Journal / Conference</a:t>
            </a:r>
            <a:r>
              <a:rPr lang="en-IN" dirty="0">
                <a:latin typeface="Times New Roman" panose="02020603050405020304" pitchFamily="18" charset="0"/>
                <a:cs typeface="Times New Roman" panose="02020603050405020304" pitchFamily="18" charset="0"/>
              </a:rPr>
              <a:t>: Proceedings of the 9th International Conference on Computational Creativity (ICCC 2018)</a:t>
            </a:r>
          </a:p>
          <a:p>
            <a:pPr algn="just">
              <a:lnSpc>
                <a:spcPct val="150000"/>
              </a:lnSpc>
            </a:pPr>
            <a:r>
              <a:rPr lang="en-IN" b="1" dirty="0">
                <a:latin typeface="Times New Roman" panose="02020603050405020304" pitchFamily="18" charset="0"/>
                <a:cs typeface="Times New Roman" panose="02020603050405020304" pitchFamily="18" charset="0"/>
              </a:rPr>
              <a:t>Publisher / Year:</a:t>
            </a:r>
            <a:r>
              <a:rPr lang="en-IN" dirty="0">
                <a:latin typeface="Times New Roman" panose="02020603050405020304" pitchFamily="18" charset="0"/>
                <a:cs typeface="Times New Roman" panose="02020603050405020304" pitchFamily="18" charset="0"/>
              </a:rPr>
              <a:t> Association for Computational Creativity (ACC), 2018</a:t>
            </a:r>
          </a:p>
        </p:txBody>
      </p:sp>
      <p:sp>
        <p:nvSpPr>
          <p:cNvPr id="2" name="Rectangle 1">
            <a:extLst>
              <a:ext uri="{FF2B5EF4-FFF2-40B4-BE49-F238E27FC236}">
                <a16:creationId xmlns:a16="http://schemas.microsoft.com/office/drawing/2014/main" id="{F48AE597-92A8-5FF8-9EB2-4954DEE6AFB6}"/>
              </a:ext>
            </a:extLst>
          </p:cNvPr>
          <p:cNvSpPr/>
          <p:nvPr/>
        </p:nvSpPr>
        <p:spPr>
          <a:xfrm>
            <a:off x="4588726" y="5943480"/>
            <a:ext cx="1735873" cy="4573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solidFill>
                <a:schemeClr val="bg1"/>
              </a:solidFill>
            </a:endParaRPr>
          </a:p>
        </p:txBody>
      </p:sp>
      <p:pic>
        <p:nvPicPr>
          <p:cNvPr id="5" name="Picture 4">
            <a:extLst>
              <a:ext uri="{FF2B5EF4-FFF2-40B4-BE49-F238E27FC236}">
                <a16:creationId xmlns:a16="http://schemas.microsoft.com/office/drawing/2014/main" id="{5063EAAC-B6EF-0296-0FCD-11AB9F7FAC72}"/>
              </a:ext>
            </a:extLst>
          </p:cNvPr>
          <p:cNvPicPr>
            <a:picLocks noChangeAspect="1"/>
          </p:cNvPicPr>
          <p:nvPr/>
        </p:nvPicPr>
        <p:blipFill>
          <a:blip r:embed="rId3"/>
          <a:stretch>
            <a:fillRect/>
          </a:stretch>
        </p:blipFill>
        <p:spPr>
          <a:xfrm>
            <a:off x="2131287" y="3222988"/>
            <a:ext cx="4650513" cy="3406412"/>
          </a:xfrm>
          <a:prstGeom prst="rect">
            <a:avLst/>
          </a:prstGeom>
        </p:spPr>
      </p:pic>
    </p:spTree>
    <p:extLst>
      <p:ext uri="{BB962C8B-B14F-4D97-AF65-F5344CB8AC3E}">
        <p14:creationId xmlns:p14="http://schemas.microsoft.com/office/powerpoint/2010/main" val="2305794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B1DBB-F6F3-9618-33B3-4A9A8381F7B8}"/>
            </a:ext>
          </a:extLst>
        </p:cNvPr>
        <p:cNvGrpSpPr/>
        <p:nvPr/>
      </p:nvGrpSpPr>
      <p:grpSpPr>
        <a:xfrm>
          <a:off x="0" y="0"/>
          <a:ext cx="0" cy="0"/>
          <a:chOff x="0" y="0"/>
          <a:chExt cx="0" cy="0"/>
        </a:xfrm>
      </p:grpSpPr>
      <p:sp>
        <p:nvSpPr>
          <p:cNvPr id="82" name="CustomShape 1">
            <a:extLst>
              <a:ext uri="{FF2B5EF4-FFF2-40B4-BE49-F238E27FC236}">
                <a16:creationId xmlns:a16="http://schemas.microsoft.com/office/drawing/2014/main" id="{D182F859-8E48-CDD8-BFBF-3A5B4A342149}"/>
              </a:ext>
            </a:extLst>
          </p:cNvPr>
          <p:cNvSpPr/>
          <p:nvPr/>
        </p:nvSpPr>
        <p:spPr>
          <a:xfrm>
            <a:off x="665018" y="1027320"/>
            <a:ext cx="8076600" cy="75600"/>
          </a:xfrm>
          <a:prstGeom prst="rect">
            <a:avLst/>
          </a:prstGeom>
          <a:solidFill>
            <a:srgbClr val="7030A0"/>
          </a:solidFill>
          <a:ln w="25560">
            <a:solidFill>
              <a:srgbClr val="3A5F8B"/>
            </a:solidFill>
            <a:round/>
          </a:ln>
        </p:spPr>
      </p:sp>
      <p:sp>
        <p:nvSpPr>
          <p:cNvPr id="83" name="CustomShape 2">
            <a:extLst>
              <a:ext uri="{FF2B5EF4-FFF2-40B4-BE49-F238E27FC236}">
                <a16:creationId xmlns:a16="http://schemas.microsoft.com/office/drawing/2014/main" id="{D2045205-5719-993C-BFE1-E5323BA3E5C6}"/>
              </a:ext>
            </a:extLst>
          </p:cNvPr>
          <p:cNvSpPr/>
          <p:nvPr/>
        </p:nvSpPr>
        <p:spPr>
          <a:xfrm>
            <a:off x="419220" y="15408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Times New Roman" panose="02020603050405020304" pitchFamily="18" charset="0"/>
                <a:cs typeface="Times New Roman" panose="02020603050405020304" pitchFamily="18" charset="0"/>
              </a:rPr>
              <a:t>Literature Survey - 2 </a:t>
            </a:r>
            <a:endParaRPr dirty="0">
              <a:latin typeface="Times New Roman" panose="02020603050405020304" pitchFamily="18" charset="0"/>
              <a:cs typeface="Times New Roman" panose="02020603050405020304" pitchFamily="18" charset="0"/>
            </a:endParaRPr>
          </a:p>
        </p:txBody>
      </p:sp>
      <p:sp>
        <p:nvSpPr>
          <p:cNvPr id="84" name="CustomShape 3">
            <a:extLst>
              <a:ext uri="{FF2B5EF4-FFF2-40B4-BE49-F238E27FC236}">
                <a16:creationId xmlns:a16="http://schemas.microsoft.com/office/drawing/2014/main" id="{CD1EDE93-2571-AFCE-AAC5-3D18DC51BF16}"/>
              </a:ext>
            </a:extLst>
          </p:cNvPr>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
        <p:nvSpPr>
          <p:cNvPr id="3" name="TextBox 2">
            <a:extLst>
              <a:ext uri="{FF2B5EF4-FFF2-40B4-BE49-F238E27FC236}">
                <a16:creationId xmlns:a16="http://schemas.microsoft.com/office/drawing/2014/main" id="{7B13B662-17B6-CAFB-45FC-4C69A5A2AA40}"/>
              </a:ext>
            </a:extLst>
          </p:cNvPr>
          <p:cNvSpPr txBox="1"/>
          <p:nvPr/>
        </p:nvSpPr>
        <p:spPr>
          <a:xfrm>
            <a:off x="802700" y="1027320"/>
            <a:ext cx="7744271" cy="5444054"/>
          </a:xfrm>
          <a:prstGeom prst="rect">
            <a:avLst/>
          </a:prstGeom>
          <a:noFill/>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Summary: </a:t>
            </a:r>
            <a:endParaRPr lang="en-IN"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Proposes a </a:t>
            </a:r>
            <a:r>
              <a:rPr lang="en-IN" b="1" dirty="0">
                <a:latin typeface="Times New Roman" panose="02020603050405020304" pitchFamily="18" charset="0"/>
                <a:cs typeface="Times New Roman" panose="02020603050405020304" pitchFamily="18" charset="0"/>
              </a:rPr>
              <a:t>deep learning system</a:t>
            </a:r>
            <a:r>
              <a:rPr lang="en-IN" dirty="0">
                <a:latin typeface="Times New Roman" panose="02020603050405020304" pitchFamily="18" charset="0"/>
                <a:cs typeface="Times New Roman" panose="02020603050405020304" pitchFamily="18" charset="0"/>
              </a:rPr>
              <a:t> that generates </a:t>
            </a:r>
            <a:r>
              <a:rPr lang="en-IN" b="1" dirty="0">
                <a:latin typeface="Times New Roman" panose="02020603050405020304" pitchFamily="18" charset="0"/>
                <a:cs typeface="Times New Roman" panose="02020603050405020304" pitchFamily="18" charset="0"/>
              </a:rPr>
              <a:t>poems from images</a:t>
            </a:r>
            <a:r>
              <a:rPr lang="en-IN"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Integrates </a:t>
            </a:r>
            <a:r>
              <a:rPr lang="en-IN" b="1" dirty="0">
                <a:latin typeface="Times New Roman" panose="02020603050405020304" pitchFamily="18" charset="0"/>
                <a:cs typeface="Times New Roman" panose="02020603050405020304" pitchFamily="18" charset="0"/>
              </a:rPr>
              <a:t>Computer Vision</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Natural Language Generation</a:t>
            </a:r>
            <a:r>
              <a:rPr lang="en-IN" dirty="0">
                <a:latin typeface="Times New Roman" panose="02020603050405020304" pitchFamily="18" charset="0"/>
                <a:cs typeface="Times New Roman" panose="02020603050405020304" pitchFamily="18" charset="0"/>
              </a:rPr>
              <a:t> for artistic output.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a </a:t>
            </a:r>
            <a:r>
              <a:rPr lang="en-IN" b="1" dirty="0">
                <a:latin typeface="Times New Roman" panose="02020603050405020304" pitchFamily="18" charset="0"/>
                <a:cs typeface="Times New Roman" panose="02020603050405020304" pitchFamily="18" charset="0"/>
              </a:rPr>
              <a:t>CNN (ImageNet-pretrained)</a:t>
            </a:r>
            <a:r>
              <a:rPr lang="en-IN" dirty="0">
                <a:latin typeface="Times New Roman" panose="02020603050405020304" pitchFamily="18" charset="0"/>
                <a:cs typeface="Times New Roman" panose="02020603050405020304" pitchFamily="18" charset="0"/>
              </a:rPr>
              <a:t> to extract </a:t>
            </a:r>
            <a:r>
              <a:rPr lang="en-IN" b="1" dirty="0">
                <a:latin typeface="Times New Roman" panose="02020603050405020304" pitchFamily="18" charset="0"/>
                <a:cs typeface="Times New Roman" panose="02020603050405020304" pitchFamily="18" charset="0"/>
              </a:rPr>
              <a:t>visual features</a:t>
            </a:r>
            <a:r>
              <a:rPr lang="en-IN"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Features are input to an </a:t>
            </a:r>
            <a:r>
              <a:rPr lang="en-IN" b="1" dirty="0">
                <a:latin typeface="Times New Roman" panose="02020603050405020304" pitchFamily="18" charset="0"/>
                <a:cs typeface="Times New Roman" panose="02020603050405020304" pitchFamily="18" charset="0"/>
              </a:rPr>
              <a:t>LSTM</a:t>
            </a:r>
            <a:r>
              <a:rPr lang="en-IN" dirty="0">
                <a:latin typeface="Times New Roman" panose="02020603050405020304" pitchFamily="18" charset="0"/>
                <a:cs typeface="Times New Roman" panose="02020603050405020304" pitchFamily="18" charset="0"/>
              </a:rPr>
              <a:t> that generates </a:t>
            </a:r>
            <a:r>
              <a:rPr lang="en-IN" b="1" dirty="0">
                <a:latin typeface="Times New Roman" panose="02020603050405020304" pitchFamily="18" charset="0"/>
                <a:cs typeface="Times New Roman" panose="02020603050405020304" pitchFamily="18" charset="0"/>
              </a:rPr>
              <a:t>poetic lines word-by-word</a:t>
            </a:r>
            <a:r>
              <a:rPr lang="en-IN"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Trained on </a:t>
            </a:r>
            <a:r>
              <a:rPr lang="en-IN" b="1" dirty="0">
                <a:latin typeface="Times New Roman" panose="02020603050405020304" pitchFamily="18" charset="0"/>
                <a:cs typeface="Times New Roman" panose="02020603050405020304" pitchFamily="18" charset="0"/>
              </a:rPr>
              <a:t>image–poem pairs</a:t>
            </a:r>
            <a:r>
              <a:rPr lang="en-IN" dirty="0">
                <a:latin typeface="Times New Roman" panose="02020603050405020304" pitchFamily="18" charset="0"/>
                <a:cs typeface="Times New Roman" panose="02020603050405020304" pitchFamily="18" charset="0"/>
              </a:rPr>
              <a:t> to learn visual–linguistic relationships.</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Beam search decoding</a:t>
            </a:r>
            <a:r>
              <a:rPr lang="en-IN" dirty="0">
                <a:latin typeface="Times New Roman" panose="02020603050405020304" pitchFamily="18" charset="0"/>
                <a:cs typeface="Times New Roman" panose="02020603050405020304" pitchFamily="18" charset="0"/>
              </a:rPr>
              <a:t> improves fluency and creativity.</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Cross-entropy loss</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word embeddings</a:t>
            </a:r>
            <a:r>
              <a:rPr lang="en-IN" dirty="0">
                <a:latin typeface="Times New Roman" panose="02020603050405020304" pitchFamily="18" charset="0"/>
                <a:cs typeface="Times New Roman" panose="02020603050405020304" pitchFamily="18" charset="0"/>
              </a:rPr>
              <a:t> ensure semantic accuracy.</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Produces </a:t>
            </a:r>
            <a:r>
              <a:rPr lang="en-IN" b="1" dirty="0">
                <a:latin typeface="Times New Roman" panose="02020603050405020304" pitchFamily="18" charset="0"/>
                <a:cs typeface="Times New Roman" panose="02020603050405020304" pitchFamily="18" charset="0"/>
              </a:rPr>
              <a:t>syntactically correct</a:t>
            </a:r>
            <a:r>
              <a:rPr lang="en-IN" dirty="0">
                <a:latin typeface="Times New Roman" panose="02020603050405020304" pitchFamily="18" charset="0"/>
                <a:cs typeface="Times New Roman" panose="02020603050405020304" pitchFamily="18" charset="0"/>
              </a:rPr>
              <a:t>, image-relevant poems but lacks </a:t>
            </a:r>
            <a:r>
              <a:rPr lang="en-IN" b="1" dirty="0">
                <a:latin typeface="Times New Roman" panose="02020603050405020304" pitchFamily="18" charset="0"/>
                <a:cs typeface="Times New Roman" panose="02020603050405020304" pitchFamily="18" charset="0"/>
              </a:rPr>
              <a:t>emotional depth</a:t>
            </a:r>
            <a:r>
              <a:rPr lang="en-IN"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pioneering step</a:t>
            </a:r>
            <a:r>
              <a:rPr lang="en-IN" dirty="0">
                <a:latin typeface="Times New Roman" panose="02020603050405020304" pitchFamily="18" charset="0"/>
                <a:cs typeface="Times New Roman" panose="02020603050405020304" pitchFamily="18" charset="0"/>
              </a:rPr>
              <a:t> toward multimodal creativity, inspiring later models like </a:t>
            </a:r>
            <a:r>
              <a:rPr lang="en-IN" b="1" dirty="0">
                <a:latin typeface="Times New Roman" panose="02020603050405020304" pitchFamily="18" charset="0"/>
                <a:cs typeface="Times New Roman" panose="02020603050405020304" pitchFamily="18" charset="0"/>
              </a:rPr>
              <a:t>CLIP, BLIP, GPT-4V</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82591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477AAB-6507-54DD-A080-8D646132ED28}"/>
              </a:ext>
            </a:extLst>
          </p:cNvPr>
          <p:cNvSpPr txBox="1"/>
          <p:nvPr/>
        </p:nvSpPr>
        <p:spPr>
          <a:xfrm>
            <a:off x="1256940" y="304800"/>
            <a:ext cx="6629400" cy="769441"/>
          </a:xfrm>
          <a:prstGeom prst="rect">
            <a:avLst/>
          </a:prstGeom>
          <a:noFill/>
        </p:spPr>
        <p:txBody>
          <a:bodyPr wrap="square">
            <a:spAutoFit/>
          </a:bodyPr>
          <a:lstStyle/>
          <a:p>
            <a:pPr algn="ctr">
              <a:lnSpc>
                <a:spcPct val="100000"/>
              </a:lnSpc>
            </a:pPr>
            <a:r>
              <a:rPr lang="en-IN" sz="4400" b="1" dirty="0">
                <a:solidFill>
                  <a:srgbClr val="000000"/>
                </a:solidFill>
                <a:latin typeface="Arial Black" pitchFamily="34" charset="0"/>
              </a:rPr>
              <a:t>Problem Definition</a:t>
            </a:r>
            <a:endParaRPr lang="en-IN" sz="4400" dirty="0">
              <a:latin typeface="Arial Black" pitchFamily="34" charset="0"/>
            </a:endParaRPr>
          </a:p>
        </p:txBody>
      </p:sp>
      <p:sp>
        <p:nvSpPr>
          <p:cNvPr id="6" name="CustomShape 1">
            <a:extLst>
              <a:ext uri="{FF2B5EF4-FFF2-40B4-BE49-F238E27FC236}">
                <a16:creationId xmlns:a16="http://schemas.microsoft.com/office/drawing/2014/main" id="{0D830FF4-D723-7391-F01C-717AC6B4D636}"/>
              </a:ext>
            </a:extLst>
          </p:cNvPr>
          <p:cNvSpPr/>
          <p:nvPr/>
        </p:nvSpPr>
        <p:spPr>
          <a:xfrm>
            <a:off x="457200" y="1173960"/>
            <a:ext cx="8076600" cy="75600"/>
          </a:xfrm>
          <a:prstGeom prst="rect">
            <a:avLst/>
          </a:prstGeom>
          <a:solidFill>
            <a:srgbClr val="7030A0"/>
          </a:solidFill>
          <a:ln w="25560">
            <a:solidFill>
              <a:srgbClr val="3A5F8B"/>
            </a:solidFill>
            <a:round/>
          </a:ln>
        </p:spPr>
      </p:sp>
      <p:sp>
        <p:nvSpPr>
          <p:cNvPr id="4" name="TextBox 3">
            <a:extLst>
              <a:ext uri="{FF2B5EF4-FFF2-40B4-BE49-F238E27FC236}">
                <a16:creationId xmlns:a16="http://schemas.microsoft.com/office/drawing/2014/main" id="{DA695861-31A6-36DE-21AF-FE5DE184F129}"/>
              </a:ext>
            </a:extLst>
          </p:cNvPr>
          <p:cNvSpPr txBox="1"/>
          <p:nvPr/>
        </p:nvSpPr>
        <p:spPr>
          <a:xfrm>
            <a:off x="603112" y="1253104"/>
            <a:ext cx="7771800" cy="502849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1. Difficulty in Poem Comprehension: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Traditional NLP models struggle to grasp poetic structure, metaphors, and emotions — leading to poor interpretation accuracy.</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2. Human-Like Learning Gap:</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AI models lack the repetitive reinforcement humans use in rote learning, essential for memorization and deep understanding.</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3. Lack of Structural Awareness: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Poems contain rhythmic, rhyming, and visual patterns ignored by text-only models. CNNs can capture these local spatial/textual patterns effectively.</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4. No Rote-Like Reinforcement: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Existing models train once and stop; they don’t mimic human iterative reading and internalization.</a:t>
            </a:r>
          </a:p>
        </p:txBody>
      </p:sp>
    </p:spTree>
    <p:extLst>
      <p:ext uri="{BB962C8B-B14F-4D97-AF65-F5344CB8AC3E}">
        <p14:creationId xmlns:p14="http://schemas.microsoft.com/office/powerpoint/2010/main" val="1242001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457200" y="838800"/>
            <a:ext cx="8076600" cy="75600"/>
          </a:xfrm>
          <a:prstGeom prst="rect">
            <a:avLst/>
          </a:prstGeom>
          <a:solidFill>
            <a:srgbClr val="7030A0"/>
          </a:solidFill>
          <a:ln w="25560">
            <a:solidFill>
              <a:srgbClr val="3A5F8B"/>
            </a:solidFill>
            <a:round/>
          </a:ln>
        </p:spPr>
      </p:sp>
      <p:sp>
        <p:nvSpPr>
          <p:cNvPr id="83" name="CustomShape 2"/>
          <p:cNvSpPr/>
          <p:nvPr/>
        </p:nvSpPr>
        <p:spPr>
          <a:xfrm>
            <a:off x="540447" y="45840"/>
            <a:ext cx="8152560" cy="760320"/>
          </a:xfrm>
          <a:prstGeom prst="rect">
            <a:avLst/>
          </a:prstGeom>
        </p:spPr>
        <p:txBody>
          <a:bodyPr lIns="90000" tIns="45000" rIns="90000" bIns="45000"/>
          <a:lstStyle/>
          <a:p>
            <a:pPr algn="ctr">
              <a:lnSpc>
                <a:spcPct val="100000"/>
              </a:lnSpc>
            </a:pPr>
            <a:r>
              <a:rPr lang="en-IN" sz="4400" dirty="0">
                <a:solidFill>
                  <a:srgbClr val="000000"/>
                </a:solidFill>
                <a:latin typeface="Arial Black" pitchFamily="34" charset="0"/>
              </a:rPr>
              <a:t>Proposed Solution</a:t>
            </a:r>
            <a:endParaRPr dirty="0">
              <a:latin typeface="Arial Black" pitchFamily="34" charset="0"/>
            </a:endParaRPr>
          </a:p>
        </p:txBody>
      </p:sp>
      <p:sp>
        <p:nvSpPr>
          <p:cNvPr id="84" name="CustomShape 3"/>
          <p:cNvSpPr/>
          <p:nvPr/>
        </p:nvSpPr>
        <p:spPr>
          <a:xfrm>
            <a:off x="685800" y="1357800"/>
            <a:ext cx="7619400" cy="775800"/>
          </a:xfrm>
          <a:prstGeom prst="rect">
            <a:avLst/>
          </a:prstGeom>
        </p:spPr>
        <p:txBody>
          <a:bodyPr lIns="90000" tIns="45000" rIns="90000" bIns="45000"/>
          <a:lstStyle/>
          <a:p>
            <a:pPr>
              <a:lnSpc>
                <a:spcPct val="150000"/>
              </a:lnSpc>
            </a:pPr>
            <a:endParaRPr/>
          </a:p>
          <a:p>
            <a:pPr>
              <a:lnSpc>
                <a:spcPct val="100000"/>
              </a:lnSpc>
            </a:pPr>
            <a:endParaRPr/>
          </a:p>
        </p:txBody>
      </p:sp>
      <p:sp>
        <p:nvSpPr>
          <p:cNvPr id="5" name="TextBox 4">
            <a:extLst>
              <a:ext uri="{FF2B5EF4-FFF2-40B4-BE49-F238E27FC236}">
                <a16:creationId xmlns:a16="http://schemas.microsoft.com/office/drawing/2014/main" id="{3647A94E-F1F3-28DE-8398-4F723EB7923F}"/>
              </a:ext>
            </a:extLst>
          </p:cNvPr>
          <p:cNvSpPr txBox="1"/>
          <p:nvPr/>
        </p:nvSpPr>
        <p:spPr>
          <a:xfrm>
            <a:off x="540446" y="1066800"/>
            <a:ext cx="8152559" cy="5443991"/>
          </a:xfrm>
          <a:prstGeom prst="rect">
            <a:avLst/>
          </a:prstGeom>
          <a:noFill/>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1. Data Collection &amp; Preprocessing</a:t>
            </a:r>
          </a:p>
          <a:p>
            <a:pPr lvl="1" algn="just">
              <a:lnSpc>
                <a:spcPct val="150000"/>
              </a:lnSpc>
            </a:pPr>
            <a:r>
              <a:rPr lang="en-IN" dirty="0">
                <a:latin typeface="Times New Roman" panose="02020603050405020304" pitchFamily="18" charset="0"/>
                <a:cs typeface="Times New Roman" panose="02020603050405020304" pitchFamily="18" charset="0"/>
              </a:rPr>
              <a:t>- Collect, clean, and prepare a large annotated poetry dataset.</a:t>
            </a:r>
          </a:p>
          <a:p>
            <a:pPr algn="just">
              <a:lnSpc>
                <a:spcPct val="150000"/>
              </a:lnSpc>
            </a:pPr>
            <a:r>
              <a:rPr lang="en-IN" b="1" dirty="0">
                <a:latin typeface="Times New Roman" panose="02020603050405020304" pitchFamily="18" charset="0"/>
                <a:cs typeface="Times New Roman" panose="02020603050405020304" pitchFamily="18" charset="0"/>
              </a:rPr>
              <a:t>2. Input Encoding</a:t>
            </a:r>
          </a:p>
          <a:p>
            <a:pPr lvl="1" algn="just">
              <a:lnSpc>
                <a:spcPct val="150000"/>
              </a:lnSpc>
            </a:pPr>
            <a:r>
              <a:rPr lang="en-IN" dirty="0">
                <a:latin typeface="Times New Roman" panose="02020603050405020304" pitchFamily="18" charset="0"/>
                <a:cs typeface="Times New Roman" panose="02020603050405020304" pitchFamily="18" charset="0"/>
              </a:rPr>
              <a:t>- Encode the poem text/keywords with a CNN/Text Encoder.</a:t>
            </a:r>
          </a:p>
          <a:p>
            <a:pPr algn="just">
              <a:lnSpc>
                <a:spcPct val="150000"/>
              </a:lnSpc>
            </a:pPr>
            <a:r>
              <a:rPr lang="en-IN" b="1" dirty="0">
                <a:latin typeface="Times New Roman" panose="02020603050405020304" pitchFamily="18" charset="0"/>
                <a:cs typeface="Times New Roman" panose="02020603050405020304" pitchFamily="18" charset="0"/>
              </a:rPr>
              <a:t>3. Memory Module (Rote Learning Simulation)</a:t>
            </a:r>
          </a:p>
          <a:p>
            <a:pPr lvl="1" algn="just">
              <a:lnSpc>
                <a:spcPct val="150000"/>
              </a:lnSpc>
            </a:pPr>
            <a:r>
              <a:rPr lang="en-IN" dirty="0">
                <a:latin typeface="Times New Roman" panose="02020603050405020304" pitchFamily="18" charset="0"/>
                <a:cs typeface="Times New Roman" panose="02020603050405020304" pitchFamily="18" charset="0"/>
              </a:rPr>
              <a:t>- Use attention or memory-augmented networks to recall and reinforce patterns.</a:t>
            </a:r>
          </a:p>
          <a:p>
            <a:pPr algn="just">
              <a:lnSpc>
                <a:spcPct val="150000"/>
              </a:lnSpc>
            </a:pPr>
            <a:r>
              <a:rPr lang="en-IN" b="1" dirty="0">
                <a:latin typeface="Times New Roman" panose="02020603050405020304" pitchFamily="18" charset="0"/>
                <a:cs typeface="Times New Roman" panose="02020603050405020304" pitchFamily="18" charset="0"/>
              </a:rPr>
              <a:t>4. Hierarchical RNN/Transformer Architecture</a:t>
            </a:r>
          </a:p>
          <a:p>
            <a:pPr lvl="1" algn="just">
              <a:lnSpc>
                <a:spcPct val="150000"/>
              </a:lnSpc>
            </a:pPr>
            <a:r>
              <a:rPr lang="en-IN" dirty="0">
                <a:latin typeface="Times New Roman" panose="02020603050405020304" pitchFamily="18" charset="0"/>
                <a:cs typeface="Times New Roman" panose="02020603050405020304" pitchFamily="18" charset="0"/>
              </a:rPr>
              <a:t>- Extract structure at both character and line levels.</a:t>
            </a:r>
          </a:p>
          <a:p>
            <a:pPr algn="just">
              <a:lnSpc>
                <a:spcPct val="150000"/>
              </a:lnSpc>
            </a:pPr>
            <a:r>
              <a:rPr lang="en-IN" b="1" dirty="0">
                <a:latin typeface="Times New Roman" panose="02020603050405020304" pitchFamily="18" charset="0"/>
                <a:cs typeface="Times New Roman" panose="02020603050405020304" pitchFamily="18" charset="0"/>
              </a:rPr>
              <a:t>5. Knowledge Base Integration</a:t>
            </a:r>
          </a:p>
          <a:p>
            <a:pPr lvl="1" algn="just">
              <a:lnSpc>
                <a:spcPct val="150000"/>
              </a:lnSpc>
            </a:pPr>
            <a:r>
              <a:rPr lang="en-IN" dirty="0">
                <a:latin typeface="Times New Roman" panose="02020603050405020304" pitchFamily="18" charset="0"/>
                <a:cs typeface="Times New Roman" panose="02020603050405020304" pitchFamily="18" charset="0"/>
              </a:rPr>
              <a:t>- Store and continually update poetic rules/devices and past meanings.</a:t>
            </a:r>
          </a:p>
          <a:p>
            <a:pPr algn="just">
              <a:lnSpc>
                <a:spcPct val="150000"/>
              </a:lnSpc>
            </a:pPr>
            <a:r>
              <a:rPr lang="en-IN" b="1" dirty="0">
                <a:latin typeface="Times New Roman" panose="02020603050405020304" pitchFamily="18" charset="0"/>
                <a:cs typeface="Times New Roman" panose="02020603050405020304" pitchFamily="18" charset="0"/>
              </a:rPr>
              <a:t>6. Interpretation &amp; Generation Loop (with Polishing)</a:t>
            </a:r>
          </a:p>
          <a:p>
            <a:pPr lvl="1" algn="just">
              <a:lnSpc>
                <a:spcPct val="150000"/>
              </a:lnSpc>
            </a:pPr>
            <a:r>
              <a:rPr lang="en-IN" dirty="0">
                <a:latin typeface="Times New Roman" panose="02020603050405020304" pitchFamily="18" charset="0"/>
                <a:cs typeface="Times New Roman" panose="02020603050405020304" pitchFamily="18" charset="0"/>
              </a:rPr>
              <a:t>- Refine interpretations and generated lines using the knowledge base and feedback.</a:t>
            </a:r>
          </a:p>
        </p:txBody>
      </p:sp>
    </p:spTree>
    <p:extLst>
      <p:ext uri="{BB962C8B-B14F-4D97-AF65-F5344CB8AC3E}">
        <p14:creationId xmlns:p14="http://schemas.microsoft.com/office/powerpoint/2010/main" val="4084179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81EA9-EECE-69D4-55E2-20890AFB2F13}"/>
            </a:ext>
          </a:extLst>
        </p:cNvPr>
        <p:cNvGrpSpPr/>
        <p:nvPr/>
      </p:nvGrpSpPr>
      <p:grpSpPr>
        <a:xfrm>
          <a:off x="0" y="0"/>
          <a:ext cx="0" cy="0"/>
          <a:chOff x="0" y="0"/>
          <a:chExt cx="0" cy="0"/>
        </a:xfrm>
      </p:grpSpPr>
      <p:sp>
        <p:nvSpPr>
          <p:cNvPr id="82" name="CustomShape 1">
            <a:extLst>
              <a:ext uri="{FF2B5EF4-FFF2-40B4-BE49-F238E27FC236}">
                <a16:creationId xmlns:a16="http://schemas.microsoft.com/office/drawing/2014/main" id="{C6340846-4034-39A0-BC6C-6AC0548B0CC6}"/>
              </a:ext>
            </a:extLst>
          </p:cNvPr>
          <p:cNvSpPr/>
          <p:nvPr/>
        </p:nvSpPr>
        <p:spPr>
          <a:xfrm>
            <a:off x="457200" y="838800"/>
            <a:ext cx="8076600" cy="75600"/>
          </a:xfrm>
          <a:prstGeom prst="rect">
            <a:avLst/>
          </a:prstGeom>
          <a:solidFill>
            <a:srgbClr val="7030A0"/>
          </a:solidFill>
          <a:ln w="25560">
            <a:solidFill>
              <a:srgbClr val="3A5F8B"/>
            </a:solidFill>
            <a:round/>
          </a:ln>
        </p:spPr>
      </p:sp>
      <p:sp>
        <p:nvSpPr>
          <p:cNvPr id="83" name="CustomShape 2">
            <a:extLst>
              <a:ext uri="{FF2B5EF4-FFF2-40B4-BE49-F238E27FC236}">
                <a16:creationId xmlns:a16="http://schemas.microsoft.com/office/drawing/2014/main" id="{63ED955F-9D10-AC05-636C-C47580457AEB}"/>
              </a:ext>
            </a:extLst>
          </p:cNvPr>
          <p:cNvSpPr/>
          <p:nvPr/>
        </p:nvSpPr>
        <p:spPr>
          <a:xfrm>
            <a:off x="540447" y="45840"/>
            <a:ext cx="8152560" cy="760320"/>
          </a:xfrm>
          <a:prstGeom prst="rect">
            <a:avLst/>
          </a:prstGeom>
        </p:spPr>
        <p:txBody>
          <a:bodyPr lIns="90000" tIns="45000" rIns="90000" bIns="45000"/>
          <a:lstStyle/>
          <a:p>
            <a:pPr algn="ctr">
              <a:lnSpc>
                <a:spcPct val="100000"/>
              </a:lnSpc>
            </a:pPr>
            <a:r>
              <a:rPr lang="en-IN" sz="4400" dirty="0">
                <a:solidFill>
                  <a:srgbClr val="000000"/>
                </a:solidFill>
                <a:latin typeface="Arial Black" pitchFamily="34" charset="0"/>
              </a:rPr>
              <a:t>Proposed Solution</a:t>
            </a:r>
            <a:endParaRPr dirty="0">
              <a:latin typeface="Arial Black" pitchFamily="34" charset="0"/>
            </a:endParaRPr>
          </a:p>
        </p:txBody>
      </p:sp>
      <p:sp>
        <p:nvSpPr>
          <p:cNvPr id="84" name="CustomShape 3">
            <a:extLst>
              <a:ext uri="{FF2B5EF4-FFF2-40B4-BE49-F238E27FC236}">
                <a16:creationId xmlns:a16="http://schemas.microsoft.com/office/drawing/2014/main" id="{67B1A253-1D06-CA7F-B588-0CE6DD722D2A}"/>
              </a:ext>
            </a:extLst>
          </p:cNvPr>
          <p:cNvSpPr/>
          <p:nvPr/>
        </p:nvSpPr>
        <p:spPr>
          <a:xfrm>
            <a:off x="685800" y="1357800"/>
            <a:ext cx="7619400" cy="775800"/>
          </a:xfrm>
          <a:prstGeom prst="rect">
            <a:avLst/>
          </a:prstGeom>
        </p:spPr>
        <p:txBody>
          <a:bodyPr lIns="90000" tIns="45000" rIns="90000" bIns="45000"/>
          <a:lstStyle/>
          <a:p>
            <a:pPr>
              <a:lnSpc>
                <a:spcPct val="150000"/>
              </a:lnSpc>
            </a:pPr>
            <a:endParaRPr/>
          </a:p>
          <a:p>
            <a:pPr>
              <a:lnSpc>
                <a:spcPct val="100000"/>
              </a:lnSpc>
            </a:pPr>
            <a:endParaRPr/>
          </a:p>
        </p:txBody>
      </p:sp>
      <p:pic>
        <p:nvPicPr>
          <p:cNvPr id="4" name="Picture 2">
            <a:extLst>
              <a:ext uri="{FF2B5EF4-FFF2-40B4-BE49-F238E27FC236}">
                <a16:creationId xmlns:a16="http://schemas.microsoft.com/office/drawing/2014/main" id="{61F105B2-C40E-98DB-7CE5-31626F985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174" y="1601591"/>
            <a:ext cx="8547652" cy="4095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48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0D82EE-12B9-8E90-9075-03C131C0A8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457200"/>
            <a:ext cx="8839200" cy="5867400"/>
          </a:xfrm>
          <a:prstGeom prst="rect">
            <a:avLst/>
          </a:prstGeom>
        </p:spPr>
      </p:pic>
    </p:spTree>
    <p:extLst>
      <p:ext uri="{BB962C8B-B14F-4D97-AF65-F5344CB8AC3E}">
        <p14:creationId xmlns:p14="http://schemas.microsoft.com/office/powerpoint/2010/main" val="1228409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457200" y="792960"/>
            <a:ext cx="8076600" cy="75600"/>
          </a:xfrm>
          <a:prstGeom prst="rect">
            <a:avLst/>
          </a:prstGeom>
          <a:solidFill>
            <a:srgbClr val="7030A0"/>
          </a:solidFill>
          <a:ln w="25560">
            <a:solidFill>
              <a:srgbClr val="3A5F8B"/>
            </a:solidFill>
            <a:round/>
          </a:ln>
        </p:spPr>
      </p:sp>
      <p:sp>
        <p:nvSpPr>
          <p:cNvPr id="83" name="CustomShape 2"/>
          <p:cNvSpPr/>
          <p:nvPr/>
        </p:nvSpPr>
        <p:spPr>
          <a:xfrm>
            <a:off x="540447" y="0"/>
            <a:ext cx="8152560" cy="760320"/>
          </a:xfrm>
          <a:prstGeom prst="rect">
            <a:avLst/>
          </a:prstGeom>
        </p:spPr>
        <p:txBody>
          <a:bodyPr lIns="90000" tIns="45000" rIns="90000" bIns="45000"/>
          <a:lstStyle/>
          <a:p>
            <a:pPr algn="ctr">
              <a:lnSpc>
                <a:spcPct val="100000"/>
              </a:lnSpc>
            </a:pPr>
            <a:r>
              <a:rPr lang="en-US" sz="4400" b="1" dirty="0">
                <a:latin typeface="Times New Roman" panose="02020603050405020304" pitchFamily="18" charset="0"/>
                <a:cs typeface="Times New Roman" panose="02020603050405020304" pitchFamily="18" charset="0"/>
              </a:rPr>
              <a:t>Advantages</a:t>
            </a:r>
            <a:endParaRPr sz="4400" b="1" dirty="0">
              <a:latin typeface="Times New Roman" panose="02020603050405020304" pitchFamily="18" charset="0"/>
              <a:cs typeface="Times New Roman" panose="02020603050405020304" pitchFamily="18" charset="0"/>
            </a:endParaRPr>
          </a:p>
        </p:txBody>
      </p:sp>
      <p:sp>
        <p:nvSpPr>
          <p:cNvPr id="84" name="CustomShape 3"/>
          <p:cNvSpPr/>
          <p:nvPr/>
        </p:nvSpPr>
        <p:spPr>
          <a:xfrm>
            <a:off x="2958153" y="754618"/>
            <a:ext cx="7619400" cy="775800"/>
          </a:xfrm>
          <a:prstGeom prst="rect">
            <a:avLst/>
          </a:prstGeom>
        </p:spPr>
        <p:txBody>
          <a:bodyPr lIns="90000" tIns="45000" rIns="90000" bIns="45000"/>
          <a:lstStyle/>
          <a:p>
            <a:pPr>
              <a:lnSpc>
                <a:spcPct val="150000"/>
              </a:lnSpc>
            </a:pPr>
            <a:endParaRPr dirty="0">
              <a:latin typeface="Times New Roman" panose="02020603050405020304" pitchFamily="18" charset="0"/>
              <a:cs typeface="Times New Roman" panose="02020603050405020304" pitchFamily="18" charset="0"/>
            </a:endParaRPr>
          </a:p>
          <a:p>
            <a:pPr>
              <a:lnSpc>
                <a:spcPct val="100000"/>
              </a:lnSpc>
            </a:pPr>
            <a:endParaRPr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4ACDC96-6CEF-EC5A-E3CB-E14087DFDC40}"/>
              </a:ext>
            </a:extLst>
          </p:cNvPr>
          <p:cNvSpPr txBox="1"/>
          <p:nvPr/>
        </p:nvSpPr>
        <p:spPr>
          <a:xfrm>
            <a:off x="609600" y="1107206"/>
            <a:ext cx="7771800" cy="4151329"/>
          </a:xfrm>
          <a:prstGeom prst="rect">
            <a:avLst/>
          </a:prstGeom>
          <a:noFill/>
        </p:spPr>
        <p:txBody>
          <a:bodyPr wrap="square">
            <a:spAutoFit/>
          </a:bodyPr>
          <a:lstStyle/>
          <a:p>
            <a:pPr algn="just"/>
            <a:endParaRPr lang="en-IN" sz="24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Captures human-like learning through explicit memory and repetition modules.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fine-grained interpretation using hierarchical (line and character-level) processing.</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Adapts continuously and improves outputs via human feedback (RLHF).</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Handles long-term dependencies and context recall better than standard RNNs/transformers.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Knowledge base integration enriches interpretation with rules, semantics, and poetic devices.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Automates both analysis and generation, not just poem writing.</a:t>
            </a:r>
          </a:p>
        </p:txBody>
      </p:sp>
    </p:spTree>
    <p:extLst>
      <p:ext uri="{BB962C8B-B14F-4D97-AF65-F5344CB8AC3E}">
        <p14:creationId xmlns:p14="http://schemas.microsoft.com/office/powerpoint/2010/main" val="1659084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3F00F-A296-4C56-AFB3-9B1E88C48B82}"/>
            </a:ext>
          </a:extLst>
        </p:cNvPr>
        <p:cNvGrpSpPr/>
        <p:nvPr/>
      </p:nvGrpSpPr>
      <p:grpSpPr>
        <a:xfrm>
          <a:off x="0" y="0"/>
          <a:ext cx="0" cy="0"/>
          <a:chOff x="0" y="0"/>
          <a:chExt cx="0" cy="0"/>
        </a:xfrm>
      </p:grpSpPr>
      <p:sp>
        <p:nvSpPr>
          <p:cNvPr id="82" name="CustomShape 1">
            <a:extLst>
              <a:ext uri="{FF2B5EF4-FFF2-40B4-BE49-F238E27FC236}">
                <a16:creationId xmlns:a16="http://schemas.microsoft.com/office/drawing/2014/main" id="{A9458983-4C49-E2C9-AD47-736B31C501EE}"/>
              </a:ext>
            </a:extLst>
          </p:cNvPr>
          <p:cNvSpPr/>
          <p:nvPr/>
        </p:nvSpPr>
        <p:spPr>
          <a:xfrm>
            <a:off x="457200" y="1219800"/>
            <a:ext cx="8076600" cy="75600"/>
          </a:xfrm>
          <a:prstGeom prst="rect">
            <a:avLst/>
          </a:prstGeom>
          <a:solidFill>
            <a:srgbClr val="7030A0"/>
          </a:solidFill>
          <a:ln w="25560">
            <a:solidFill>
              <a:srgbClr val="3A5F8B"/>
            </a:solidFill>
            <a:round/>
          </a:ln>
        </p:spPr>
      </p:sp>
      <p:sp>
        <p:nvSpPr>
          <p:cNvPr id="83" name="CustomShape 2">
            <a:extLst>
              <a:ext uri="{FF2B5EF4-FFF2-40B4-BE49-F238E27FC236}">
                <a16:creationId xmlns:a16="http://schemas.microsoft.com/office/drawing/2014/main" id="{294154D2-12B5-61DD-5835-9240C77CB9C5}"/>
              </a:ext>
            </a:extLst>
          </p:cNvPr>
          <p:cNvSpPr/>
          <p:nvPr/>
        </p:nvSpPr>
        <p:spPr>
          <a:xfrm>
            <a:off x="540447" y="0"/>
            <a:ext cx="8152560" cy="760320"/>
          </a:xfrm>
          <a:prstGeom prst="rect">
            <a:avLst/>
          </a:prstGeom>
        </p:spPr>
        <p:txBody>
          <a:bodyPr lIns="90000" tIns="45000" rIns="90000" bIns="45000"/>
          <a:lstStyle/>
          <a:p>
            <a:pPr algn="ctr"/>
            <a:r>
              <a:rPr lang="en-IN" sz="3600" b="1" dirty="0">
                <a:latin typeface="Times New Roman" panose="02020603050405020304" pitchFamily="18" charset="0"/>
                <a:cs typeface="Times New Roman" panose="02020603050405020304" pitchFamily="18" charset="0"/>
              </a:rPr>
              <a:t>Overcoming Drawbacks of Existing Systems</a:t>
            </a:r>
          </a:p>
          <a:p>
            <a:pPr algn="ctr">
              <a:lnSpc>
                <a:spcPct val="100000"/>
              </a:lnSpc>
            </a:pPr>
            <a:endParaRPr sz="3600" b="1" dirty="0">
              <a:latin typeface="Times New Roman" panose="02020603050405020304" pitchFamily="18" charset="0"/>
              <a:cs typeface="Times New Roman" panose="02020603050405020304" pitchFamily="18" charset="0"/>
            </a:endParaRPr>
          </a:p>
        </p:txBody>
      </p:sp>
      <p:sp>
        <p:nvSpPr>
          <p:cNvPr id="84" name="CustomShape 3">
            <a:extLst>
              <a:ext uri="{FF2B5EF4-FFF2-40B4-BE49-F238E27FC236}">
                <a16:creationId xmlns:a16="http://schemas.microsoft.com/office/drawing/2014/main" id="{BDDD8B5D-D426-9BD0-C1DB-570D3333DDA6}"/>
              </a:ext>
            </a:extLst>
          </p:cNvPr>
          <p:cNvSpPr/>
          <p:nvPr/>
        </p:nvSpPr>
        <p:spPr>
          <a:xfrm>
            <a:off x="2958153" y="754618"/>
            <a:ext cx="7619400" cy="775800"/>
          </a:xfrm>
          <a:prstGeom prst="rect">
            <a:avLst/>
          </a:prstGeom>
        </p:spPr>
        <p:txBody>
          <a:bodyPr lIns="90000" tIns="45000" rIns="90000" bIns="45000"/>
          <a:lstStyle/>
          <a:p>
            <a:pPr>
              <a:lnSpc>
                <a:spcPct val="150000"/>
              </a:lnSpc>
            </a:pPr>
            <a:endParaRPr dirty="0">
              <a:latin typeface="Times New Roman" panose="02020603050405020304" pitchFamily="18" charset="0"/>
              <a:cs typeface="Times New Roman" panose="02020603050405020304" pitchFamily="18" charset="0"/>
            </a:endParaRPr>
          </a:p>
          <a:p>
            <a:pPr>
              <a:lnSpc>
                <a:spcPct val="100000"/>
              </a:lnSpc>
            </a:pPr>
            <a:endParaRPr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03527FC-07E2-4BD7-C5CB-226F46870B47}"/>
              </a:ext>
            </a:extLst>
          </p:cNvPr>
          <p:cNvSpPr txBox="1"/>
          <p:nvPr/>
        </p:nvSpPr>
        <p:spPr>
          <a:xfrm>
            <a:off x="609600" y="1752600"/>
            <a:ext cx="7771800" cy="419749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Solves shallow understanding</a:t>
            </a:r>
            <a:r>
              <a:rPr lang="en-IN" dirty="0">
                <a:latin typeface="Times New Roman" panose="02020603050405020304" pitchFamily="18" charset="0"/>
                <a:cs typeface="Times New Roman" panose="02020603050405020304" pitchFamily="18" charset="0"/>
              </a:rPr>
              <a:t>—traditional models lack deep semantic or contextual memory.</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Reduces static outputs</a:t>
            </a:r>
            <a:r>
              <a:rPr lang="en-IN" dirty="0">
                <a:latin typeface="Times New Roman" panose="02020603050405020304" pitchFamily="18" charset="0"/>
                <a:cs typeface="Times New Roman" panose="02020603050405020304" pitchFamily="18" charset="0"/>
              </a:rPr>
              <a:t>—offers dynamic, user-aligned interpretation through feedback.</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Deals with limited context recall</a:t>
            </a:r>
            <a:r>
              <a:rPr lang="en-IN" dirty="0">
                <a:latin typeface="Times New Roman" panose="02020603050405020304" pitchFamily="18" charset="0"/>
                <a:cs typeface="Times New Roman" panose="02020603050405020304" pitchFamily="18" charset="0"/>
              </a:rPr>
              <a:t>—uses external memory to revisit earlier lines/poems.</a:t>
            </a: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Exceeds simple pattern matching</a:t>
            </a:r>
            <a:r>
              <a:rPr lang="en-IN" dirty="0">
                <a:latin typeface="Times New Roman" panose="02020603050405020304" pitchFamily="18" charset="0"/>
                <a:cs typeface="Times New Roman" panose="02020603050405020304" pitchFamily="18" charset="0"/>
              </a:rPr>
              <a:t>—incorporates genuine reasoning over poetic devices and meanings.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Enables personalized, flexible outputs in response to new user inputs and annotations.</a:t>
            </a:r>
          </a:p>
        </p:txBody>
      </p:sp>
    </p:spTree>
    <p:extLst>
      <p:ext uri="{BB962C8B-B14F-4D97-AF65-F5344CB8AC3E}">
        <p14:creationId xmlns:p14="http://schemas.microsoft.com/office/powerpoint/2010/main" val="3633215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680"/>
            <a:ext cx="8381160" cy="75600"/>
          </a:xfrm>
          <a:prstGeom prst="rect">
            <a:avLst/>
          </a:prstGeom>
          <a:solidFill>
            <a:srgbClr val="7030A0"/>
          </a:solidFill>
          <a:ln w="25560">
            <a:solidFill>
              <a:srgbClr val="3A5F8B"/>
            </a:solidFill>
            <a:round/>
          </a:ln>
        </p:spPr>
      </p:sp>
      <p:sp>
        <p:nvSpPr>
          <p:cNvPr id="5" name="CustomShape 2"/>
          <p:cNvSpPr/>
          <p:nvPr/>
        </p:nvSpPr>
        <p:spPr>
          <a:xfrm>
            <a:off x="457200" y="380880"/>
            <a:ext cx="8381160" cy="455760"/>
          </a:xfrm>
          <a:prstGeom prst="rect">
            <a:avLst/>
          </a:prstGeom>
        </p:spPr>
        <p:txBody>
          <a:bodyPr lIns="90000" tIns="45000" rIns="90000" bIns="45000"/>
          <a:lstStyle/>
          <a:p>
            <a:pPr algn="ctr">
              <a:lnSpc>
                <a:spcPct val="100000"/>
              </a:lnSpc>
            </a:pPr>
            <a:r>
              <a:rPr lang="en-IN" sz="4400" b="1" dirty="0">
                <a:latin typeface="Arial Black" panose="020B0A04020102020204" pitchFamily="34" charset="0"/>
              </a:rPr>
              <a:t>Conclusion</a:t>
            </a:r>
            <a:endParaRPr sz="4400" dirty="0">
              <a:latin typeface="Arial Black" panose="020B0A04020102020204" pitchFamily="34" charset="0"/>
            </a:endParaRPr>
          </a:p>
        </p:txBody>
      </p:sp>
      <p:sp>
        <p:nvSpPr>
          <p:cNvPr id="7" name="TextBox 6">
            <a:extLst>
              <a:ext uri="{FF2B5EF4-FFF2-40B4-BE49-F238E27FC236}">
                <a16:creationId xmlns:a16="http://schemas.microsoft.com/office/drawing/2014/main" id="{D324F3CC-5A42-C6EC-2788-2567FB355332}"/>
              </a:ext>
            </a:extLst>
          </p:cNvPr>
          <p:cNvSpPr txBox="1"/>
          <p:nvPr/>
        </p:nvSpPr>
        <p:spPr>
          <a:xfrm>
            <a:off x="472068" y="1447800"/>
            <a:ext cx="8290932" cy="2862322"/>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This proposed solution for “A CNN-Based Poem Learning and Interpretation Model Inspired by Human Rote Learning” establishes a structured, multi-stage system that closely mimics human learning. By integrating CNN/text encoding, memory-augmented modules, hierarchical neural networks, and a knowledge base, the model can interpret,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and generate poetry with increasing alignment to human creativity and understanding. The addition of polishing loops and human feedback ensures iterative improvement, making the system robust and adaptable for both academic study and practical deployment. This architecture not only automates poem interpretation but also deepens the connection between artificial intelligence and literary analysis, reflecting the true essence of rote human learning in modern poetic AI.</a:t>
            </a:r>
            <a:endParaRPr lang="en-US" dirty="0">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E109844F-1B55-B858-7008-09F3240B2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4310122"/>
            <a:ext cx="3581400" cy="2387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2A9E2-4494-8CC3-E1E2-F3C4E4C5E256}"/>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5AB4135A-8A6F-B63E-5141-7B9B8CF39F0D}"/>
              </a:ext>
            </a:extLst>
          </p:cNvPr>
          <p:cNvSpPr/>
          <p:nvPr/>
        </p:nvSpPr>
        <p:spPr>
          <a:xfrm>
            <a:off x="457200" y="1066680"/>
            <a:ext cx="8381160" cy="75600"/>
          </a:xfrm>
          <a:prstGeom prst="rect">
            <a:avLst/>
          </a:prstGeom>
          <a:solidFill>
            <a:srgbClr val="7030A0"/>
          </a:solidFill>
          <a:ln w="25560">
            <a:solidFill>
              <a:srgbClr val="3A5F8B"/>
            </a:solidFill>
            <a:round/>
          </a:ln>
        </p:spPr>
      </p:sp>
      <p:sp>
        <p:nvSpPr>
          <p:cNvPr id="5" name="CustomShape 2">
            <a:extLst>
              <a:ext uri="{FF2B5EF4-FFF2-40B4-BE49-F238E27FC236}">
                <a16:creationId xmlns:a16="http://schemas.microsoft.com/office/drawing/2014/main" id="{F82CE604-6016-6269-549C-A9EDF195B224}"/>
              </a:ext>
            </a:extLst>
          </p:cNvPr>
          <p:cNvSpPr/>
          <p:nvPr/>
        </p:nvSpPr>
        <p:spPr>
          <a:xfrm>
            <a:off x="449826" y="381000"/>
            <a:ext cx="8381160" cy="455760"/>
          </a:xfrm>
          <a:prstGeom prst="rect">
            <a:avLst/>
          </a:prstGeom>
        </p:spPr>
        <p:txBody>
          <a:bodyPr lIns="90000" tIns="45000" rIns="90000" bIns="45000"/>
          <a:lstStyle/>
          <a:p>
            <a:pPr algn="ctr">
              <a:lnSpc>
                <a:spcPct val="100000"/>
              </a:lnSpc>
            </a:pPr>
            <a:r>
              <a:rPr lang="en-IN" sz="4400" b="1" dirty="0">
                <a:latin typeface="Arial Black" panose="020B0A04020102020204" pitchFamily="34" charset="0"/>
              </a:rPr>
              <a:t>References</a:t>
            </a:r>
            <a:endParaRPr sz="4400" dirty="0">
              <a:latin typeface="Arial Black" panose="020B0A04020102020204" pitchFamily="34" charset="0"/>
            </a:endParaRPr>
          </a:p>
        </p:txBody>
      </p:sp>
      <p:sp>
        <p:nvSpPr>
          <p:cNvPr id="7" name="TextBox 6">
            <a:extLst>
              <a:ext uri="{FF2B5EF4-FFF2-40B4-BE49-F238E27FC236}">
                <a16:creationId xmlns:a16="http://schemas.microsoft.com/office/drawing/2014/main" id="{6F7B9873-CE13-1053-D1BE-71A8F2B07815}"/>
              </a:ext>
            </a:extLst>
          </p:cNvPr>
          <p:cNvSpPr txBox="1"/>
          <p:nvPr/>
        </p:nvSpPr>
        <p:spPr>
          <a:xfrm>
            <a:off x="685380" y="1397600"/>
            <a:ext cx="7924800" cy="5663089"/>
          </a:xfrm>
          <a:prstGeom prst="rect">
            <a:avLst/>
          </a:prstGeom>
          <a:noFill/>
        </p:spPr>
        <p:txBody>
          <a:bodyPr wrap="square">
            <a:spAutoFit/>
          </a:bodyPr>
          <a:lstStyle/>
          <a:p>
            <a:pPr marL="285750" indent="-285750">
              <a:buFont typeface="Wingdings" panose="05000000000000000000" pitchFamily="2" charset="2"/>
              <a:buChar char="q"/>
            </a:pPr>
            <a:r>
              <a:rPr lang="en-US" sz="1400" dirty="0">
                <a:latin typeface="Times New Roman" panose="02020603050405020304" pitchFamily="18" charset="0"/>
                <a:cs typeface="Times New Roman" panose="02020603050405020304" pitchFamily="18" charset="0"/>
              </a:rPr>
              <a:t>Zadeh, A., Liang, P. P., Mazumder, N., Poria, S., Cambria, E., &amp; Morency, L. P. (2018). Multimodal Language Analysis in the Wild: CMU-MOSEI Dataset and Interpretable Dynamic Fusion Graph. Proceedings of the 56th Annual Meeting of the Association for Computational Linguistics (ACL 2018).</a:t>
            </a:r>
          </a:p>
          <a:p>
            <a:r>
              <a:rPr lang="en-US"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hlinkClick r:id="rId2"/>
              </a:rPr>
              <a:t>https://arxiv.org/abs/1806.06157</a:t>
            </a:r>
            <a:r>
              <a:rPr lang="en-US" sz="14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q"/>
            </a:pPr>
            <a:endParaRPr lang="en-US" sz="1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400" dirty="0" err="1">
                <a:latin typeface="Times New Roman" panose="02020603050405020304" pitchFamily="18" charset="0"/>
                <a:cs typeface="Times New Roman" panose="02020603050405020304" pitchFamily="18" charset="0"/>
              </a:rPr>
              <a:t>Baltrušaitis</a:t>
            </a:r>
            <a:r>
              <a:rPr lang="en-US" sz="1400" dirty="0">
                <a:latin typeface="Times New Roman" panose="02020603050405020304" pitchFamily="18" charset="0"/>
                <a:cs typeface="Times New Roman" panose="02020603050405020304" pitchFamily="18" charset="0"/>
              </a:rPr>
              <a:t>, T., Ahuja, C., &amp; Morency, L. P. (2019). Multimodal Machine Learning: A Survey and Taxonomy. IEEE Transactions on Pattern Analysis and Machine Intelligence.</a:t>
            </a:r>
          </a:p>
          <a:p>
            <a:r>
              <a:rPr lang="en-US"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hlinkClick r:id="rId3"/>
              </a:rPr>
              <a:t>https://arxiv.org/abs/1705.09406</a:t>
            </a:r>
            <a:r>
              <a:rPr lang="en-US" sz="1400" dirty="0">
                <a:latin typeface="Times New Roman" panose="02020603050405020304" pitchFamily="18" charset="0"/>
                <a:cs typeface="Times New Roman" panose="02020603050405020304" pitchFamily="18" charset="0"/>
              </a:rPr>
              <a:t> </a:t>
            </a:r>
          </a:p>
          <a:p>
            <a:endParaRPr lang="en-US" sz="1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400" dirty="0">
                <a:latin typeface="Times New Roman" panose="02020603050405020304" pitchFamily="18" charset="0"/>
                <a:cs typeface="Times New Roman" panose="02020603050405020304" pitchFamily="18" charset="0"/>
              </a:rPr>
              <a:t>Busso, C., Bulut, M., Lee, C. C., Kazemzadeh, A., Mower, E., Kim, S., ... &amp; Narayanan, S. (2008). IEMOCAP: Interactive Emotional Dyadic Motion Capture Database. Language Resources and Evaluation, 42(4), 335–359.</a:t>
            </a:r>
          </a:p>
          <a:p>
            <a:r>
              <a:rPr lang="en-US"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hlinkClick r:id="rId4"/>
              </a:rPr>
              <a:t>https://sail.usc.edu/iemocap/</a:t>
            </a:r>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400" dirty="0">
                <a:latin typeface="Times New Roman" panose="02020603050405020304" pitchFamily="18" charset="0"/>
                <a:cs typeface="Times New Roman" panose="02020603050405020304" pitchFamily="18" charset="0"/>
              </a:rPr>
              <a:t>Poria, S., Hazarika, D., Majumder, N., Naik, G., Cambria, E., &amp; Mihalcea, R. (2017). A Deeper Look into Sarcastic Tweets using Deep Convolutional Neural Networks. Proceedings of COLING 2016, the 26th International Conference on Computational Linguistics.</a:t>
            </a:r>
            <a:br>
              <a:rPr lang="en-US" sz="1400" dirty="0">
                <a:latin typeface="Times New Roman" panose="02020603050405020304" pitchFamily="18" charset="0"/>
                <a:cs typeface="Times New Roman" panose="02020603050405020304" pitchFamily="18" charset="0"/>
              </a:rPr>
            </a:br>
            <a:r>
              <a:rPr lang="en-US" sz="1200" dirty="0">
                <a:hlinkClick r:id="rId5"/>
              </a:rPr>
              <a:t>https://arxiv.org/abs/1610.08815</a:t>
            </a:r>
            <a:endParaRPr lang="en-US" sz="1200" dirty="0"/>
          </a:p>
          <a:p>
            <a:pPr marL="285750" indent="-285750">
              <a:buFont typeface="Wingdings" panose="05000000000000000000" pitchFamily="2" charset="2"/>
              <a:buChar char="q"/>
            </a:pPr>
            <a:endParaRPr lang="en-US" sz="1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400" dirty="0" err="1">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Yiyuan</a:t>
            </a:r>
            <a:r>
              <a:rPr lang="en-US" sz="1400" dirty="0">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 Zhang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Kaixiong</a:t>
            </a:r>
            <a:r>
              <a:rPr lang="en-US" sz="1400" dirty="0">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 Gong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Kaipeng</a:t>
            </a:r>
            <a:r>
              <a:rPr lang="en-US" sz="1400" dirty="0">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 Zhang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Hongsheng</a:t>
            </a:r>
            <a:r>
              <a:rPr lang="en-US" sz="1400" dirty="0">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 Li</a:t>
            </a:r>
            <a:r>
              <a:rPr lang="en-US"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hlinkClick r:id="rId10">
                  <a:extLst>
                    <a:ext uri="{A12FA001-AC4F-418D-AE19-62706E023703}">
                      <ahyp:hlinkClr xmlns:ahyp="http://schemas.microsoft.com/office/drawing/2018/hyperlinkcolor" val="tx"/>
                    </a:ext>
                  </a:extLst>
                </a:hlinkClick>
              </a:rPr>
              <a:t>Yu Qiao</a:t>
            </a:r>
            <a:r>
              <a:rPr lang="en-US"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hlinkClick r:id="rId11">
                  <a:extLst>
                    <a:ext uri="{A12FA001-AC4F-418D-AE19-62706E023703}">
                      <ahyp:hlinkClr xmlns:ahyp="http://schemas.microsoft.com/office/drawing/2018/hyperlinkcolor" val="tx"/>
                    </a:ext>
                  </a:extLst>
                </a:hlinkClick>
              </a:rPr>
              <a:t>Wanli Ouyang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hlinkClick r:id="rId12">
                  <a:extLst>
                    <a:ext uri="{A12FA001-AC4F-418D-AE19-62706E023703}">
                      <ahyp:hlinkClr xmlns:ahyp="http://schemas.microsoft.com/office/drawing/2018/hyperlinkcolor" val="tx"/>
                    </a:ext>
                  </a:extLst>
                </a:hlinkClick>
              </a:rPr>
              <a:t>Xiangyu</a:t>
            </a:r>
            <a:r>
              <a:rPr lang="en-US" sz="1400" dirty="0">
                <a:latin typeface="Times New Roman" panose="02020603050405020304" pitchFamily="18" charset="0"/>
                <a:cs typeface="Times New Roman" panose="02020603050405020304" pitchFamily="18" charset="0"/>
                <a:hlinkClick r:id="rId12">
                  <a:extLst>
                    <a:ext uri="{A12FA001-AC4F-418D-AE19-62706E023703}">
                      <ahyp:hlinkClr xmlns:ahyp="http://schemas.microsoft.com/office/drawing/2018/hyperlinkcolor" val="tx"/>
                    </a:ext>
                  </a:extLst>
                </a:hlinkClick>
              </a:rPr>
              <a:t> Yue</a:t>
            </a:r>
            <a:r>
              <a:rPr lang="en-US" sz="1400" dirty="0">
                <a:latin typeface="Times New Roman" panose="02020603050405020304" pitchFamily="18" charset="0"/>
                <a:cs typeface="Times New Roman" panose="02020603050405020304" pitchFamily="18" charset="0"/>
              </a:rPr>
              <a:t>.</a:t>
            </a:r>
            <a:r>
              <a:rPr lang="en-US" b="1" dirty="0"/>
              <a:t> </a:t>
            </a:r>
            <a:r>
              <a:rPr lang="en-US" sz="1400" dirty="0">
                <a:latin typeface="Times New Roman" panose="02020603050405020304" pitchFamily="18" charset="0"/>
                <a:cs typeface="Times New Roman" panose="02020603050405020304" pitchFamily="18" charset="0"/>
              </a:rPr>
              <a:t>Meta-Transformer: A Unified Framework for Multimodal Learning.</a:t>
            </a:r>
          </a:p>
          <a:p>
            <a:r>
              <a:rPr lang="en-US" sz="1400" dirty="0">
                <a:latin typeface="Times New Roman" panose="02020603050405020304" pitchFamily="18" charset="0"/>
                <a:cs typeface="Times New Roman" panose="02020603050405020304" pitchFamily="18" charset="0"/>
              </a:rPr>
              <a:t>      </a:t>
            </a:r>
            <a:r>
              <a:rPr lang="en-US" sz="1200" dirty="0">
                <a:hlinkClick r:id="rId13"/>
              </a:rPr>
              <a:t>https://arxiv.org/pdf/2307.10802</a:t>
            </a:r>
            <a:endParaRPr lang="en-US" sz="1200" dirty="0"/>
          </a:p>
          <a:p>
            <a:endParaRPr lang="en-US" sz="1200" dirty="0"/>
          </a:p>
          <a:p>
            <a:pPr marL="285750" indent="-285750">
              <a:buFont typeface="Wingdings" panose="05000000000000000000" pitchFamily="2" charset="2"/>
              <a:buChar char="q"/>
            </a:pP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p>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3531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TM03457510[[fn=Savon]]</Template>
  <TotalTime>11931</TotalTime>
  <Words>1279</Words>
  <Application>Microsoft Macintosh PowerPoint</Application>
  <PresentationFormat>On-screen Show (4:3)</PresentationFormat>
  <Paragraphs>119</Paragraphs>
  <Slides>15</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Arial Black</vt:lpstr>
      <vt:lpstr>Calibri</vt:lpstr>
      <vt:lpstr>StarSymbol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Hareen</dc:creator>
  <cp:lastModifiedBy>maneendragudipally</cp:lastModifiedBy>
  <cp:revision>844</cp:revision>
  <dcterms:modified xsi:type="dcterms:W3CDTF">2025-11-25T13:51:23Z</dcterms:modified>
</cp:coreProperties>
</file>